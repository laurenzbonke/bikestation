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B18BF2-8577-3DD3-40F3-CB8A6D1AC49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F2CC5FF6-E9E5-CE74-9C7F-0D1AF0099E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0B1F8013-8F46-2FC7-45DA-31B18079A75E}"/>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5" name="Fußzeilenplatzhalter 4">
            <a:extLst>
              <a:ext uri="{FF2B5EF4-FFF2-40B4-BE49-F238E27FC236}">
                <a16:creationId xmlns:a16="http://schemas.microsoft.com/office/drawing/2014/main" id="{4763F28D-CC7E-BB60-7DD1-5B95736673D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8840389-362C-DBF3-8B49-E9B9A847DEF4}"/>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3968978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78F78C-FD2F-3658-B230-A4EDDF128BB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BEFCCAA-08A2-1843-CF7A-56C749F3852D}"/>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7F726AB-DF34-8937-0E62-2162C4B86F10}"/>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5" name="Fußzeilenplatzhalter 4">
            <a:extLst>
              <a:ext uri="{FF2B5EF4-FFF2-40B4-BE49-F238E27FC236}">
                <a16:creationId xmlns:a16="http://schemas.microsoft.com/office/drawing/2014/main" id="{C9F45B72-216C-F6C3-2234-1FD02193937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8C4D4BA-71E0-F726-7C1F-CDD3F3C87735}"/>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2032691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F9CF91-0519-C8A8-8A08-1F52C5D0C999}"/>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98E1EB3C-DDFC-71D5-492F-BDE9F8C87A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8EC89C9F-815B-9182-7F75-E89BE13399FB}"/>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5" name="Fußzeilenplatzhalter 4">
            <a:extLst>
              <a:ext uri="{FF2B5EF4-FFF2-40B4-BE49-F238E27FC236}">
                <a16:creationId xmlns:a16="http://schemas.microsoft.com/office/drawing/2014/main" id="{6805694C-C8F1-B64C-CF66-F77634B00BC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44AC09C-D1EA-E338-ED16-8CE5FE4F8706}"/>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1385042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DDE8A5-C494-1B52-8713-0EA65638E88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A509AC1-AE9D-A6B8-F3BE-5386A6D21DED}"/>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8543CFF-71F1-3009-95B0-0F1C36140888}"/>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EE2B179-0396-6470-7D59-A425F296C25A}"/>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6" name="Fußzeilenplatzhalter 5">
            <a:extLst>
              <a:ext uri="{FF2B5EF4-FFF2-40B4-BE49-F238E27FC236}">
                <a16:creationId xmlns:a16="http://schemas.microsoft.com/office/drawing/2014/main" id="{FA9D421E-0848-B52D-D644-6ED53234DFD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8627E3C-4F79-4F08-BF4B-552DF6D185B7}"/>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3807915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8E13F-65F1-8FD0-4D29-2F178044D820}"/>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A9E64D0-BDC1-7241-6F53-06AA7D4FC1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AAE1DC9-0EFD-B245-4444-9FF3640AE53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A53C6F0-CE21-E193-EB7C-CD6A3503F9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5DAB5A0-1BD4-9405-AA61-2CA2E1C548D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6C00DE6F-E564-EAEB-93E6-B656A94C9462}"/>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8" name="Fußzeilenplatzhalter 7">
            <a:extLst>
              <a:ext uri="{FF2B5EF4-FFF2-40B4-BE49-F238E27FC236}">
                <a16:creationId xmlns:a16="http://schemas.microsoft.com/office/drawing/2014/main" id="{6499CAEB-BD68-5903-2977-AD0664A3253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8B047D6-570A-29F7-6CA6-6A64EABA8618}"/>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942339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D48E95-EA2C-8CB8-4943-1841DC247A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4CF9054-50AB-DC4E-67FD-77A0FFD47634}"/>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4" name="Fußzeilenplatzhalter 3">
            <a:extLst>
              <a:ext uri="{FF2B5EF4-FFF2-40B4-BE49-F238E27FC236}">
                <a16:creationId xmlns:a16="http://schemas.microsoft.com/office/drawing/2014/main" id="{05B30770-257B-FDFA-444A-0B6D1D88B6DC}"/>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FF46E416-02CB-0751-90E0-FC7A826FE444}"/>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2215621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C89E5D2-5C93-B1A4-D50C-D320787EBBA7}"/>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3" name="Fußzeilenplatzhalter 2">
            <a:extLst>
              <a:ext uri="{FF2B5EF4-FFF2-40B4-BE49-F238E27FC236}">
                <a16:creationId xmlns:a16="http://schemas.microsoft.com/office/drawing/2014/main" id="{BEBE31F5-4169-FC1B-53EE-B1213C925BF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E4918B6-C8D0-F5F4-3E06-2019C37FAFED}"/>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309306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D1A744-1B24-8615-FC10-11BD4737990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2744FEE-BE51-DF3D-A16E-FCA0C544EE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4A20770-4327-4202-011B-6729A70EC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5473756-5F10-BF24-943D-A4E03B585946}"/>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6" name="Fußzeilenplatzhalter 5">
            <a:extLst>
              <a:ext uri="{FF2B5EF4-FFF2-40B4-BE49-F238E27FC236}">
                <a16:creationId xmlns:a16="http://schemas.microsoft.com/office/drawing/2014/main" id="{797450F0-3A7D-B6E2-73EF-0505D64F6F3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36EC1C1-7AEA-8018-F5EE-0F95009B1AAE}"/>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1261008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7ED895-13DC-A863-2D8B-FDE3C8FF050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E4B07D6-6846-8366-CDE2-47990BC9D4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2346E5F9-D49F-6458-7A60-83AC97549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549EC1E-F6C2-DBEB-A0B5-68F98F40CAF0}"/>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6" name="Fußzeilenplatzhalter 5">
            <a:extLst>
              <a:ext uri="{FF2B5EF4-FFF2-40B4-BE49-F238E27FC236}">
                <a16:creationId xmlns:a16="http://schemas.microsoft.com/office/drawing/2014/main" id="{46A65090-C0CD-2C49-0C6A-60FA91ED5F5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C9BA966-F652-85DA-1647-5E766D7F677E}"/>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237357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26E573-BACA-52C0-45B2-D4153848E966}"/>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4787810-51D3-9FB3-649C-C9B8B6AD7FE0}"/>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B6DB414-C550-FEA1-1F92-1783E728CDD4}"/>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5" name="Fußzeilenplatzhalter 4">
            <a:extLst>
              <a:ext uri="{FF2B5EF4-FFF2-40B4-BE49-F238E27FC236}">
                <a16:creationId xmlns:a16="http://schemas.microsoft.com/office/drawing/2014/main" id="{75CBFA95-B65F-FF5D-2C0C-FB544ACAFC8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3E3DAF9-97BD-D73E-6F6C-69CBE9DA4735}"/>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3611309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AF08924-125E-160D-B2BA-5B392100A30F}"/>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3A416A13-83C7-5E88-4E46-17601F2137A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DC9356C-4792-BF91-2F2D-E0CF0FB6B573}"/>
              </a:ext>
            </a:extLst>
          </p:cNvPr>
          <p:cNvSpPr>
            <a:spLocks noGrp="1"/>
          </p:cNvSpPr>
          <p:nvPr>
            <p:ph type="dt" sz="half" idx="10"/>
          </p:nvPr>
        </p:nvSpPr>
        <p:spPr/>
        <p:txBody>
          <a:bodyPr/>
          <a:lstStyle/>
          <a:p>
            <a:fld id="{698013CA-0336-4D2D-805A-22075C67B36A}" type="datetimeFigureOut">
              <a:rPr lang="de-DE" smtClean="0"/>
              <a:t>29.09.2026</a:t>
            </a:fld>
            <a:endParaRPr lang="de-DE"/>
          </a:p>
        </p:txBody>
      </p:sp>
      <p:sp>
        <p:nvSpPr>
          <p:cNvPr id="5" name="Fußzeilenplatzhalter 4">
            <a:extLst>
              <a:ext uri="{FF2B5EF4-FFF2-40B4-BE49-F238E27FC236}">
                <a16:creationId xmlns:a16="http://schemas.microsoft.com/office/drawing/2014/main" id="{C353B73E-B4D5-88ED-3E35-A3B4F23C15D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D235F9C-CD0C-16C7-811A-9D31F815982A}"/>
              </a:ext>
            </a:extLst>
          </p:cNvPr>
          <p:cNvSpPr>
            <a:spLocks noGrp="1"/>
          </p:cNvSpPr>
          <p:nvPr>
            <p:ph type="sldNum" sz="quarter" idx="12"/>
          </p:nvPr>
        </p:nvSpPr>
        <p:spPr/>
        <p:txBody>
          <a:bodyPr/>
          <a:lstStyle/>
          <a:p>
            <a:fld id="{DA8261A5-FE39-4861-87F1-39A605FB0868}" type="slidenum">
              <a:rPr lang="de-DE" smtClean="0"/>
              <a:t>‹Nr.›</a:t>
            </a:fld>
            <a:endParaRPr lang="de-DE"/>
          </a:p>
        </p:txBody>
      </p:sp>
    </p:spTree>
    <p:extLst>
      <p:ext uri="{BB962C8B-B14F-4D97-AF65-F5344CB8AC3E}">
        <p14:creationId xmlns:p14="http://schemas.microsoft.com/office/powerpoint/2010/main" val="55176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97411CC-AA14-D3DE-B735-A17E0D6FF0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300866FC-ED22-C74F-188B-39CAD63B7B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7D82D45-369D-7163-DDE4-658E5CE69A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8013CA-0336-4D2D-805A-22075C67B36A}" type="datetimeFigureOut">
              <a:rPr lang="de-DE" smtClean="0"/>
              <a:t>29.09.2026</a:t>
            </a:fld>
            <a:endParaRPr lang="de-DE"/>
          </a:p>
        </p:txBody>
      </p:sp>
      <p:sp>
        <p:nvSpPr>
          <p:cNvPr id="5" name="Fußzeilenplatzhalter 4">
            <a:extLst>
              <a:ext uri="{FF2B5EF4-FFF2-40B4-BE49-F238E27FC236}">
                <a16:creationId xmlns:a16="http://schemas.microsoft.com/office/drawing/2014/main" id="{8A02E82F-3AB1-B266-7053-BD85F45198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BC65AFA3-5D38-7C64-6C68-6ACC4BEE2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8261A5-FE39-4861-87F1-39A605FB0868}" type="slidenum">
              <a:rPr lang="de-DE" smtClean="0"/>
              <a:t>‹Nr.›</a:t>
            </a:fld>
            <a:endParaRPr lang="de-DE"/>
          </a:p>
        </p:txBody>
      </p:sp>
    </p:spTree>
    <p:extLst>
      <p:ext uri="{BB962C8B-B14F-4D97-AF65-F5344CB8AC3E}">
        <p14:creationId xmlns:p14="http://schemas.microsoft.com/office/powerpoint/2010/main" val="499163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A27"/>
        </a:solidFill>
        <a:effectLst/>
      </p:bgPr>
    </p:bg>
    <p:spTree>
      <p:nvGrpSpPr>
        <p:cNvPr id="1" name=""/>
        <p:cNvGrpSpPr/>
        <p:nvPr/>
      </p:nvGrpSpPr>
      <p:grpSpPr>
        <a:xfrm>
          <a:off x="0" y="0"/>
          <a:ext cx="0" cy="0"/>
          <a:chOff x="0" y="0"/>
          <a:chExt cx="0" cy="0"/>
        </a:xfrm>
      </p:grpSpPr>
      <p:sp>
        <p:nvSpPr>
          <p:cNvPr id="2" name="Rechteck: abgerundete Ecken 1">
            <a:extLst>
              <a:ext uri="{FF2B5EF4-FFF2-40B4-BE49-F238E27FC236}">
                <a16:creationId xmlns:a16="http://schemas.microsoft.com/office/drawing/2014/main" id="{E72C757D-A9FD-3E23-ABAC-81A2000B66FE}"/>
              </a:ext>
            </a:extLst>
          </p:cNvPr>
          <p:cNvSpPr/>
          <p:nvPr/>
        </p:nvSpPr>
        <p:spPr>
          <a:xfrm>
            <a:off x="762000" y="762000"/>
            <a:ext cx="609600" cy="609600"/>
          </a:xfrm>
          <a:prstGeom prst="roundRect">
            <a:avLst>
              <a:gd name="adj" fmla="val 22000"/>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a:solidFill>
                  <a:srgbClr val="FFFFFF"/>
                </a:solidFill>
              </a:rPr>
              <a:t>🚲</a:t>
            </a:r>
          </a:p>
        </p:txBody>
      </p:sp>
      <p:sp>
        <p:nvSpPr>
          <p:cNvPr id="3" name="Textfeld 2">
            <a:extLst>
              <a:ext uri="{FF2B5EF4-FFF2-40B4-BE49-F238E27FC236}">
                <a16:creationId xmlns:a16="http://schemas.microsoft.com/office/drawing/2014/main" id="{AAF89596-0235-B99E-F900-691C51105E13}"/>
              </a:ext>
            </a:extLst>
          </p:cNvPr>
          <p:cNvSpPr txBox="1"/>
          <p:nvPr/>
        </p:nvSpPr>
        <p:spPr>
          <a:xfrm>
            <a:off x="1524000" y="863600"/>
            <a:ext cx="5080000" cy="369332"/>
          </a:xfrm>
          <a:prstGeom prst="rect">
            <a:avLst/>
          </a:prstGeom>
          <a:noFill/>
        </p:spPr>
        <p:txBody>
          <a:bodyPr vert="horz" wrap="square" lIns="0" tIns="0" rIns="0" bIns="0" rtlCol="0">
            <a:noAutofit/>
          </a:bodyPr>
          <a:lstStyle/>
          <a:p>
            <a:pPr>
              <a:lnSpc>
                <a:spcPct val="110000"/>
              </a:lnSpc>
            </a:pPr>
            <a:r>
              <a:rPr lang="de-DE" sz="2600">
                <a:solidFill>
                  <a:srgbClr val="FFFFFF"/>
                </a:solidFill>
                <a:latin typeface="Segoe UI Semibold" panose="020B0702040204020203" pitchFamily="34" charset="0"/>
              </a:rPr>
              <a:t>bikestation.</a:t>
            </a:r>
          </a:p>
        </p:txBody>
      </p:sp>
      <p:sp>
        <p:nvSpPr>
          <p:cNvPr id="4" name="Textfeld 3">
            <a:extLst>
              <a:ext uri="{FF2B5EF4-FFF2-40B4-BE49-F238E27FC236}">
                <a16:creationId xmlns:a16="http://schemas.microsoft.com/office/drawing/2014/main" id="{48C314BE-F747-5144-DBB7-94E6169A0F0F}"/>
              </a:ext>
            </a:extLst>
          </p:cNvPr>
          <p:cNvSpPr txBox="1"/>
          <p:nvPr/>
        </p:nvSpPr>
        <p:spPr>
          <a:xfrm>
            <a:off x="762000" y="2159000"/>
            <a:ext cx="10414000" cy="369332"/>
          </a:xfrm>
          <a:prstGeom prst="rect">
            <a:avLst/>
          </a:prstGeom>
          <a:noFill/>
        </p:spPr>
        <p:txBody>
          <a:bodyPr vert="horz" wrap="square" lIns="0" tIns="0" rIns="0" bIns="0" rtlCol="0">
            <a:noAutofit/>
          </a:bodyPr>
          <a:lstStyle/>
          <a:p>
            <a:pPr>
              <a:lnSpc>
                <a:spcPct val="110000"/>
              </a:lnSpc>
            </a:pPr>
            <a:r>
              <a:rPr lang="en-US" sz="4400">
                <a:solidFill>
                  <a:srgbClr val="FFFFFF"/>
                </a:solidFill>
                <a:latin typeface="Segoe UI Semibold" panose="020B0702040204020203" pitchFamily="34" charset="0"/>
              </a:rPr>
              <a:t>The user journey
of the Smart Bikestation</a:t>
            </a:r>
            <a:endParaRPr lang="de-DE" sz="4400">
              <a:solidFill>
                <a:srgbClr val="FFFFFF"/>
              </a:solidFill>
              <a:latin typeface="Segoe UI Semibold" panose="020B0702040204020203" pitchFamily="34" charset="0"/>
            </a:endParaRPr>
          </a:p>
        </p:txBody>
      </p:sp>
      <p:sp>
        <p:nvSpPr>
          <p:cNvPr id="5" name="Textfeld 4">
            <a:extLst>
              <a:ext uri="{FF2B5EF4-FFF2-40B4-BE49-F238E27FC236}">
                <a16:creationId xmlns:a16="http://schemas.microsoft.com/office/drawing/2014/main" id="{64279723-029E-EC59-6DC3-5136CD6338CC}"/>
              </a:ext>
            </a:extLst>
          </p:cNvPr>
          <p:cNvSpPr txBox="1"/>
          <p:nvPr/>
        </p:nvSpPr>
        <p:spPr>
          <a:xfrm>
            <a:off x="762000" y="3810000"/>
            <a:ext cx="9652000" cy="369332"/>
          </a:xfrm>
          <a:prstGeom prst="rect">
            <a:avLst/>
          </a:prstGeom>
          <a:noFill/>
        </p:spPr>
        <p:txBody>
          <a:bodyPr vert="horz" wrap="square" lIns="0" tIns="0" rIns="0" bIns="0" rtlCol="0">
            <a:noAutofit/>
          </a:bodyPr>
          <a:lstStyle/>
          <a:p>
            <a:pPr>
              <a:lnSpc>
                <a:spcPct val="110000"/>
              </a:lnSpc>
            </a:pPr>
            <a:r>
              <a:rPr lang="en-US" sz="1700">
                <a:solidFill>
                  <a:srgbClr val="C9D3CD"/>
                </a:solidFill>
                <a:latin typeface="Segoe UI" panose="020B0502040204020203" pitchFamily="34" charset="0"/>
              </a:rPr>
              <a:t>From finding a free spot to picking up the bike – and what happens if someone tries to steal it.</a:t>
            </a:r>
            <a:endParaRPr lang="de-DE" sz="1700">
              <a:solidFill>
                <a:srgbClr val="C9D3CD"/>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40F7D0CA-E4C4-CA90-7E2D-D8175ED2925B}"/>
              </a:ext>
            </a:extLst>
          </p:cNvPr>
          <p:cNvSpPr/>
          <p:nvPr/>
        </p:nvSpPr>
        <p:spPr>
          <a:xfrm>
            <a:off x="762000" y="4953000"/>
            <a:ext cx="1524000" cy="254000"/>
          </a:xfrm>
          <a:prstGeom prst="roundRect">
            <a:avLst>
              <a:gd name="adj" fmla="val 50000"/>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FFFFFF"/>
                </a:solidFill>
                <a:latin typeface="Segoe UI Semibold" panose="020B0702040204020203" pitchFamily="34" charset="0"/>
              </a:rPr>
              <a:t>HACKATHON 2026</a:t>
            </a:r>
          </a:p>
        </p:txBody>
      </p:sp>
      <p:sp>
        <p:nvSpPr>
          <p:cNvPr id="7" name="Rechteck: abgerundete Ecken 6">
            <a:extLst>
              <a:ext uri="{FF2B5EF4-FFF2-40B4-BE49-F238E27FC236}">
                <a16:creationId xmlns:a16="http://schemas.microsoft.com/office/drawing/2014/main" id="{B53B3835-0101-F90B-E375-5710A9ACE4F8}"/>
              </a:ext>
            </a:extLst>
          </p:cNvPr>
          <p:cNvSpPr/>
          <p:nvPr/>
        </p:nvSpPr>
        <p:spPr>
          <a:xfrm>
            <a:off x="2413000" y="4953000"/>
            <a:ext cx="1905000" cy="254000"/>
          </a:xfrm>
          <a:prstGeom prst="roundRect">
            <a:avLst>
              <a:gd name="adj" fmla="val 50000"/>
            </a:avLst>
          </a:prstGeom>
          <a:solidFill>
            <a:srgbClr val="2E3A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DFE6E1"/>
                </a:solidFill>
                <a:latin typeface="Segoe UI Semibold" panose="020B0702040204020203" pitchFamily="34" charset="0"/>
              </a:rPr>
              <a:t>WORKING PROTOTYPE</a:t>
            </a:r>
          </a:p>
        </p:txBody>
      </p:sp>
      <p:sp>
        <p:nvSpPr>
          <p:cNvPr id="8" name="Textfeld 7">
            <a:extLst>
              <a:ext uri="{FF2B5EF4-FFF2-40B4-BE49-F238E27FC236}">
                <a16:creationId xmlns:a16="http://schemas.microsoft.com/office/drawing/2014/main" id="{6F0696B0-7A91-3D74-E080-A1B2F9845102}"/>
              </a:ext>
            </a:extLst>
          </p:cNvPr>
          <p:cNvSpPr txBox="1"/>
          <p:nvPr/>
        </p:nvSpPr>
        <p:spPr>
          <a:xfrm>
            <a:off x="762000" y="6096000"/>
            <a:ext cx="10668000" cy="369332"/>
          </a:xfrm>
          <a:prstGeom prst="rect">
            <a:avLst/>
          </a:prstGeom>
          <a:noFill/>
        </p:spPr>
        <p:txBody>
          <a:bodyPr vert="horz" wrap="square" lIns="0" tIns="0" rIns="0" bIns="0" rtlCol="0">
            <a:noAutofit/>
          </a:bodyPr>
          <a:lstStyle/>
          <a:p>
            <a:pPr>
              <a:lnSpc>
                <a:spcPct val="110000"/>
              </a:lnSpc>
            </a:pPr>
            <a:r>
              <a:rPr lang="de-DE" sz="1200">
                <a:solidFill>
                  <a:srgbClr val="9FB0A7"/>
                </a:solidFill>
                <a:latin typeface="Segoe UI" panose="020B0502040204020203" pitchFamily="34" charset="0"/>
              </a:rPr>
              <a:t>Live demo: Stellplatz 1 · Hackathon Halle</a:t>
            </a:r>
          </a:p>
        </p:txBody>
      </p:sp>
    </p:spTree>
    <p:extLst>
      <p:ext uri="{BB962C8B-B14F-4D97-AF65-F5344CB8AC3E}">
        <p14:creationId xmlns:p14="http://schemas.microsoft.com/office/powerpoint/2010/main" val="2298364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4F9FD678-2C55-DB66-45C3-A1041726E020}"/>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AA6BD9F7-6242-F701-AFA8-30F52BC5FE3C}"/>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CONTEXT</a:t>
            </a:r>
          </a:p>
        </p:txBody>
      </p:sp>
      <p:sp>
        <p:nvSpPr>
          <p:cNvPr id="4" name="Textfeld 3">
            <a:extLst>
              <a:ext uri="{FF2B5EF4-FFF2-40B4-BE49-F238E27FC236}">
                <a16:creationId xmlns:a16="http://schemas.microsoft.com/office/drawing/2014/main" id="{72EC1FCF-4E47-4956-F011-6A3F35960356}"/>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de-DE" sz="3000">
                <a:solidFill>
                  <a:srgbClr val="202A27"/>
                </a:solidFill>
                <a:latin typeface="Segoe UI Semibold" panose="020B0702040204020203" pitchFamily="34" charset="0"/>
              </a:rPr>
              <a:t>Who is this for?</a:t>
            </a:r>
          </a:p>
        </p:txBody>
      </p:sp>
      <p:sp>
        <p:nvSpPr>
          <p:cNvPr id="5" name="Textfeld 4">
            <a:extLst>
              <a:ext uri="{FF2B5EF4-FFF2-40B4-BE49-F238E27FC236}">
                <a16:creationId xmlns:a16="http://schemas.microsoft.com/office/drawing/2014/main" id="{6E94182F-D269-6015-9142-776774A5A53B}"/>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Three people interact with the station. The journey is designed around what each of them needs in the moment.</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08263A1F-7223-05F8-CA60-9EE56A516164}"/>
              </a:ext>
            </a:extLst>
          </p:cNvPr>
          <p:cNvSpPr/>
          <p:nvPr/>
        </p:nvSpPr>
        <p:spPr>
          <a:xfrm>
            <a:off x="609600" y="2032000"/>
            <a:ext cx="3505200" cy="2794000"/>
          </a:xfrm>
          <a:prstGeom prst="roundRect">
            <a:avLst>
              <a:gd name="adj" fmla="val 4545"/>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AB9920AD-9E45-5F87-675B-29A4B9DC1851}"/>
              </a:ext>
            </a:extLst>
          </p:cNvPr>
          <p:cNvSpPr/>
          <p:nvPr/>
        </p:nvSpPr>
        <p:spPr>
          <a:xfrm>
            <a:off x="609600" y="2032000"/>
            <a:ext cx="63500" cy="2794000"/>
          </a:xfrm>
          <a:prstGeom prst="rect">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48EC031A-74DC-811B-AD1A-EF77B11E25B7}"/>
              </a:ext>
            </a:extLst>
          </p:cNvPr>
          <p:cNvSpPr txBox="1"/>
          <p:nvPr/>
        </p:nvSpPr>
        <p:spPr>
          <a:xfrm>
            <a:off x="889000" y="2286000"/>
            <a:ext cx="3048000" cy="369332"/>
          </a:xfrm>
          <a:prstGeom prst="rect">
            <a:avLst/>
          </a:prstGeom>
          <a:noFill/>
        </p:spPr>
        <p:txBody>
          <a:bodyPr vert="horz" wrap="square" lIns="0" tIns="0" rIns="0" bIns="0" rtlCol="0">
            <a:noAutofit/>
          </a:bodyPr>
          <a:lstStyle/>
          <a:p>
            <a:pPr>
              <a:lnSpc>
                <a:spcPct val="110000"/>
              </a:lnSpc>
            </a:pPr>
            <a:r>
              <a:rPr lang="de-DE" sz="2000">
                <a:solidFill>
                  <a:srgbClr val="202A27"/>
                </a:solidFill>
                <a:latin typeface="Segoe UI Semibold" panose="020B0702040204020203" pitchFamily="34" charset="0"/>
              </a:rPr>
              <a:t>Cyclist</a:t>
            </a:r>
          </a:p>
        </p:txBody>
      </p:sp>
      <p:sp>
        <p:nvSpPr>
          <p:cNvPr id="9" name="Textfeld 8">
            <a:extLst>
              <a:ext uri="{FF2B5EF4-FFF2-40B4-BE49-F238E27FC236}">
                <a16:creationId xmlns:a16="http://schemas.microsoft.com/office/drawing/2014/main" id="{1820091B-7239-B587-CB4F-160B20E98F03}"/>
              </a:ext>
            </a:extLst>
          </p:cNvPr>
          <p:cNvSpPr txBox="1"/>
          <p:nvPr/>
        </p:nvSpPr>
        <p:spPr>
          <a:xfrm>
            <a:off x="889000" y="2717800"/>
            <a:ext cx="30480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Student or commuter with a valuable bike or e-bike.</a:t>
            </a:r>
            <a:endParaRPr lang="de-DE" sz="1250">
              <a:solidFill>
                <a:srgbClr val="3F4943"/>
              </a:solidFill>
              <a:latin typeface="Segoe UI" panose="020B0502040204020203" pitchFamily="34" charset="0"/>
            </a:endParaRPr>
          </a:p>
        </p:txBody>
      </p:sp>
      <p:sp>
        <p:nvSpPr>
          <p:cNvPr id="10" name="Textfeld 9">
            <a:extLst>
              <a:ext uri="{FF2B5EF4-FFF2-40B4-BE49-F238E27FC236}">
                <a16:creationId xmlns:a16="http://schemas.microsoft.com/office/drawing/2014/main" id="{C7C94195-CD17-46AC-475B-6A1D3754AD59}"/>
              </a:ext>
            </a:extLst>
          </p:cNvPr>
          <p:cNvSpPr txBox="1"/>
          <p:nvPr/>
        </p:nvSpPr>
        <p:spPr>
          <a:xfrm>
            <a:off x="889000" y="3556000"/>
            <a:ext cx="3048000" cy="369332"/>
          </a:xfrm>
          <a:prstGeom prst="rect">
            <a:avLst/>
          </a:prstGeom>
          <a:noFill/>
        </p:spPr>
        <p:txBody>
          <a:bodyPr vert="horz" wrap="square" lIns="0" tIns="0" rIns="0" bIns="0" rtlCol="0">
            <a:noAutofit/>
          </a:bodyPr>
          <a:lstStyle/>
          <a:p>
            <a:pPr>
              <a:lnSpc>
                <a:spcPct val="110000"/>
              </a:lnSpc>
            </a:pPr>
            <a:r>
              <a:rPr lang="en-US" sz="1200">
                <a:solidFill>
                  <a:srgbClr val="5D6660"/>
                </a:solidFill>
                <a:latin typeface="Segoe UI" panose="020B0502040204020203" pitchFamily="34" charset="0"/>
              </a:rPr>
              <a:t>Needs: know if a spot is free before arriving · lock the bike without a key · be told immediately if something happens.</a:t>
            </a:r>
            <a:endParaRPr lang="de-DE" sz="1200">
              <a:solidFill>
                <a:srgbClr val="5D6660"/>
              </a:solidFill>
              <a:latin typeface="Segoe UI" panose="020B0502040204020203" pitchFamily="34" charset="0"/>
            </a:endParaRPr>
          </a:p>
        </p:txBody>
      </p:sp>
      <p:sp>
        <p:nvSpPr>
          <p:cNvPr id="11" name="Rechteck: abgerundete Ecken 10">
            <a:extLst>
              <a:ext uri="{FF2B5EF4-FFF2-40B4-BE49-F238E27FC236}">
                <a16:creationId xmlns:a16="http://schemas.microsoft.com/office/drawing/2014/main" id="{1D6350B9-55D0-6A50-5DF3-573CDC158210}"/>
              </a:ext>
            </a:extLst>
          </p:cNvPr>
          <p:cNvSpPr/>
          <p:nvPr/>
        </p:nvSpPr>
        <p:spPr>
          <a:xfrm>
            <a:off x="4318000" y="2032000"/>
            <a:ext cx="3505200" cy="2794000"/>
          </a:xfrm>
          <a:prstGeom prst="roundRect">
            <a:avLst>
              <a:gd name="adj" fmla="val 4545"/>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84C71AD1-242C-8E7E-B002-416F9A9C4470}"/>
              </a:ext>
            </a:extLst>
          </p:cNvPr>
          <p:cNvSpPr/>
          <p:nvPr/>
        </p:nvSpPr>
        <p:spPr>
          <a:xfrm>
            <a:off x="4318000" y="2032000"/>
            <a:ext cx="63500" cy="2794000"/>
          </a:xfrm>
          <a:prstGeom prst="rect">
            <a:avLst/>
          </a:prstGeom>
          <a:solidFill>
            <a:srgbClr val="E36E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891DB4E8-221F-42C0-933A-9AD1F7D6CFA8}"/>
              </a:ext>
            </a:extLst>
          </p:cNvPr>
          <p:cNvSpPr txBox="1"/>
          <p:nvPr/>
        </p:nvSpPr>
        <p:spPr>
          <a:xfrm>
            <a:off x="4597400" y="2286000"/>
            <a:ext cx="3048000" cy="369332"/>
          </a:xfrm>
          <a:prstGeom prst="rect">
            <a:avLst/>
          </a:prstGeom>
          <a:noFill/>
        </p:spPr>
        <p:txBody>
          <a:bodyPr vert="horz" wrap="square" lIns="0" tIns="0" rIns="0" bIns="0" rtlCol="0">
            <a:noAutofit/>
          </a:bodyPr>
          <a:lstStyle/>
          <a:p>
            <a:pPr>
              <a:lnSpc>
                <a:spcPct val="110000"/>
              </a:lnSpc>
            </a:pPr>
            <a:r>
              <a:rPr lang="de-DE" sz="2000">
                <a:solidFill>
                  <a:srgbClr val="202A27"/>
                </a:solidFill>
                <a:latin typeface="Segoe UI Semibold" panose="020B0702040204020203" pitchFamily="34" charset="0"/>
              </a:rPr>
              <a:t>Admin / operator</a:t>
            </a:r>
          </a:p>
        </p:txBody>
      </p:sp>
      <p:sp>
        <p:nvSpPr>
          <p:cNvPr id="14" name="Textfeld 13">
            <a:extLst>
              <a:ext uri="{FF2B5EF4-FFF2-40B4-BE49-F238E27FC236}">
                <a16:creationId xmlns:a16="http://schemas.microsoft.com/office/drawing/2014/main" id="{176CBB4A-3897-DE8C-69B8-1F94E29EC2CB}"/>
              </a:ext>
            </a:extLst>
          </p:cNvPr>
          <p:cNvSpPr txBox="1"/>
          <p:nvPr/>
        </p:nvSpPr>
        <p:spPr>
          <a:xfrm>
            <a:off x="4597400" y="2717800"/>
            <a:ext cx="30480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Runs the station (school, city, company).</a:t>
            </a:r>
            <a:endParaRPr lang="de-DE" sz="1250">
              <a:solidFill>
                <a:srgbClr val="3F4943"/>
              </a:solidFill>
              <a:latin typeface="Segoe UI" panose="020B0502040204020203" pitchFamily="34" charset="0"/>
            </a:endParaRPr>
          </a:p>
        </p:txBody>
      </p:sp>
      <p:sp>
        <p:nvSpPr>
          <p:cNvPr id="15" name="Textfeld 14">
            <a:extLst>
              <a:ext uri="{FF2B5EF4-FFF2-40B4-BE49-F238E27FC236}">
                <a16:creationId xmlns:a16="http://schemas.microsoft.com/office/drawing/2014/main" id="{5FBEF651-0439-39F2-7067-9D56B28F2CA5}"/>
              </a:ext>
            </a:extLst>
          </p:cNvPr>
          <p:cNvSpPr txBox="1"/>
          <p:nvPr/>
        </p:nvSpPr>
        <p:spPr>
          <a:xfrm>
            <a:off x="4597400" y="3556000"/>
            <a:ext cx="3048000" cy="369332"/>
          </a:xfrm>
          <a:prstGeom prst="rect">
            <a:avLst/>
          </a:prstGeom>
          <a:noFill/>
        </p:spPr>
        <p:txBody>
          <a:bodyPr vert="horz" wrap="square" lIns="0" tIns="0" rIns="0" bIns="0" rtlCol="0">
            <a:noAutofit/>
          </a:bodyPr>
          <a:lstStyle/>
          <a:p>
            <a:pPr>
              <a:lnSpc>
                <a:spcPct val="110000"/>
              </a:lnSpc>
            </a:pPr>
            <a:r>
              <a:rPr lang="en-US" sz="1200">
                <a:solidFill>
                  <a:srgbClr val="5D6660"/>
                </a:solidFill>
                <a:latin typeface="Segoe UI" panose="020B0502040204020203" pitchFamily="34" charset="0"/>
              </a:rPr>
              <a:t>Needs: see who is at which box · react to alarms · add or remove stations · a clear log of events.</a:t>
            </a:r>
            <a:endParaRPr lang="de-DE" sz="1200">
              <a:solidFill>
                <a:srgbClr val="5D6660"/>
              </a:solidFill>
              <a:latin typeface="Segoe UI" panose="020B0502040204020203" pitchFamily="34" charset="0"/>
            </a:endParaRPr>
          </a:p>
        </p:txBody>
      </p:sp>
      <p:sp>
        <p:nvSpPr>
          <p:cNvPr id="16" name="Rechteck: abgerundete Ecken 15">
            <a:extLst>
              <a:ext uri="{FF2B5EF4-FFF2-40B4-BE49-F238E27FC236}">
                <a16:creationId xmlns:a16="http://schemas.microsoft.com/office/drawing/2014/main" id="{6D1606A4-0046-2AA9-0F53-AD97D4192E9C}"/>
              </a:ext>
            </a:extLst>
          </p:cNvPr>
          <p:cNvSpPr/>
          <p:nvPr/>
        </p:nvSpPr>
        <p:spPr>
          <a:xfrm>
            <a:off x="8026400" y="2032000"/>
            <a:ext cx="3505200" cy="2794000"/>
          </a:xfrm>
          <a:prstGeom prst="roundRect">
            <a:avLst>
              <a:gd name="adj" fmla="val 4545"/>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D9E98FB4-2002-9077-21A1-0193338606EC}"/>
              </a:ext>
            </a:extLst>
          </p:cNvPr>
          <p:cNvSpPr/>
          <p:nvPr/>
        </p:nvSpPr>
        <p:spPr>
          <a:xfrm>
            <a:off x="8026400" y="2032000"/>
            <a:ext cx="63500" cy="2794000"/>
          </a:xfrm>
          <a:prstGeom prst="rect">
            <a:avLst/>
          </a:prstGeom>
          <a:solidFill>
            <a:srgbClr val="155F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Textfeld 17">
            <a:extLst>
              <a:ext uri="{FF2B5EF4-FFF2-40B4-BE49-F238E27FC236}">
                <a16:creationId xmlns:a16="http://schemas.microsoft.com/office/drawing/2014/main" id="{CCB12512-0A1D-8DC5-8DD7-A78F90F4F17E}"/>
              </a:ext>
            </a:extLst>
          </p:cNvPr>
          <p:cNvSpPr txBox="1"/>
          <p:nvPr/>
        </p:nvSpPr>
        <p:spPr>
          <a:xfrm>
            <a:off x="8305800" y="2286000"/>
            <a:ext cx="3048000" cy="369332"/>
          </a:xfrm>
          <a:prstGeom prst="rect">
            <a:avLst/>
          </a:prstGeom>
          <a:noFill/>
        </p:spPr>
        <p:txBody>
          <a:bodyPr vert="horz" wrap="square" lIns="0" tIns="0" rIns="0" bIns="0" rtlCol="0">
            <a:noAutofit/>
          </a:bodyPr>
          <a:lstStyle/>
          <a:p>
            <a:pPr>
              <a:lnSpc>
                <a:spcPct val="110000"/>
              </a:lnSpc>
            </a:pPr>
            <a:r>
              <a:rPr lang="de-DE" sz="2000">
                <a:solidFill>
                  <a:srgbClr val="202A27"/>
                </a:solidFill>
                <a:latin typeface="Segoe UI Semibold" panose="020B0702040204020203" pitchFamily="34" charset="0"/>
              </a:rPr>
              <a:t>Station</a:t>
            </a:r>
          </a:p>
        </p:txBody>
      </p:sp>
      <p:sp>
        <p:nvSpPr>
          <p:cNvPr id="19" name="Textfeld 18">
            <a:extLst>
              <a:ext uri="{FF2B5EF4-FFF2-40B4-BE49-F238E27FC236}">
                <a16:creationId xmlns:a16="http://schemas.microsoft.com/office/drawing/2014/main" id="{D87E8F2E-5885-E715-D3E6-FB21EE4D489E}"/>
              </a:ext>
            </a:extLst>
          </p:cNvPr>
          <p:cNvSpPr txBox="1"/>
          <p:nvPr/>
        </p:nvSpPr>
        <p:spPr>
          <a:xfrm>
            <a:off x="8305800" y="2717800"/>
            <a:ext cx="30480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Raspberry Pi 5 with ultrasonic sensor, servo latch and LED.</a:t>
            </a:r>
            <a:endParaRPr lang="de-DE" sz="1250">
              <a:solidFill>
                <a:srgbClr val="3F4943"/>
              </a:solidFill>
              <a:latin typeface="Segoe UI" panose="020B0502040204020203" pitchFamily="34" charset="0"/>
            </a:endParaRPr>
          </a:p>
        </p:txBody>
      </p:sp>
      <p:sp>
        <p:nvSpPr>
          <p:cNvPr id="20" name="Textfeld 19">
            <a:extLst>
              <a:ext uri="{FF2B5EF4-FFF2-40B4-BE49-F238E27FC236}">
                <a16:creationId xmlns:a16="http://schemas.microsoft.com/office/drawing/2014/main" id="{49757AB5-8BA3-F682-8B39-DBF82645A538}"/>
              </a:ext>
            </a:extLst>
          </p:cNvPr>
          <p:cNvSpPr txBox="1"/>
          <p:nvPr/>
        </p:nvSpPr>
        <p:spPr>
          <a:xfrm>
            <a:off x="8305800" y="3556000"/>
            <a:ext cx="3048000" cy="369332"/>
          </a:xfrm>
          <a:prstGeom prst="rect">
            <a:avLst/>
          </a:prstGeom>
          <a:noFill/>
        </p:spPr>
        <p:txBody>
          <a:bodyPr vert="horz" wrap="square" lIns="0" tIns="0" rIns="0" bIns="0" rtlCol="0">
            <a:noAutofit/>
          </a:bodyPr>
          <a:lstStyle/>
          <a:p>
            <a:pPr>
              <a:lnSpc>
                <a:spcPct val="110000"/>
              </a:lnSpc>
            </a:pPr>
            <a:r>
              <a:rPr lang="en-US" sz="1200">
                <a:solidFill>
                  <a:srgbClr val="5D6660"/>
                </a:solidFill>
                <a:latin typeface="Segoe UI" panose="020B0502040204020203" pitchFamily="34" charset="0"/>
              </a:rPr>
              <a:t>Needs: a simple rule – measure, report, move the latch as the server says.</a:t>
            </a:r>
            <a:endParaRPr lang="de-DE" sz="1200">
              <a:solidFill>
                <a:srgbClr val="5D6660"/>
              </a:solidFill>
              <a:latin typeface="Segoe UI" panose="020B0502040204020203" pitchFamily="34" charset="0"/>
            </a:endParaRPr>
          </a:p>
        </p:txBody>
      </p:sp>
      <p:sp>
        <p:nvSpPr>
          <p:cNvPr id="21" name="Textfeld 20">
            <a:extLst>
              <a:ext uri="{FF2B5EF4-FFF2-40B4-BE49-F238E27FC236}">
                <a16:creationId xmlns:a16="http://schemas.microsoft.com/office/drawing/2014/main" id="{ADDDCBC2-5634-C981-4ADA-7A88D88C8FCC}"/>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22" name="Textfeld 21">
            <a:extLst>
              <a:ext uri="{FF2B5EF4-FFF2-40B4-BE49-F238E27FC236}">
                <a16:creationId xmlns:a16="http://schemas.microsoft.com/office/drawing/2014/main" id="{AD85B68A-8716-8479-00A4-2939B74F6AD1}"/>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2</a:t>
            </a:r>
          </a:p>
        </p:txBody>
      </p:sp>
    </p:spTree>
    <p:extLst>
      <p:ext uri="{BB962C8B-B14F-4D97-AF65-F5344CB8AC3E}">
        <p14:creationId xmlns:p14="http://schemas.microsoft.com/office/powerpoint/2010/main" val="4128530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87EF7165-1876-FEA6-BCF1-6242D25DC7C6}"/>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DBEBEE6B-6145-F35B-9670-2FFE11BE7D28}"/>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THE JOURNEY</a:t>
            </a:r>
          </a:p>
        </p:txBody>
      </p:sp>
      <p:sp>
        <p:nvSpPr>
          <p:cNvPr id="4" name="Textfeld 3">
            <a:extLst>
              <a:ext uri="{FF2B5EF4-FFF2-40B4-BE49-F238E27FC236}">
                <a16:creationId xmlns:a16="http://schemas.microsoft.com/office/drawing/2014/main" id="{524E467E-781B-C4D9-C6E1-A86B37D31DAA}"/>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en-US" sz="3000">
                <a:solidFill>
                  <a:srgbClr val="202A27"/>
                </a:solidFill>
                <a:latin typeface="Segoe UI Semibold" panose="020B0702040204020203" pitchFamily="34" charset="0"/>
              </a:rPr>
              <a:t>Five steps from free spot to pick-up</a:t>
            </a:r>
            <a:endParaRPr lang="de-DE" sz="3000">
              <a:solidFill>
                <a:srgbClr val="202A27"/>
              </a:solidFill>
              <a:latin typeface="Segoe UI Semibold" panose="020B0702040204020203" pitchFamily="34" charset="0"/>
            </a:endParaRPr>
          </a:p>
        </p:txBody>
      </p:sp>
      <p:sp>
        <p:nvSpPr>
          <p:cNvPr id="5" name="Textfeld 4">
            <a:extLst>
              <a:ext uri="{FF2B5EF4-FFF2-40B4-BE49-F238E27FC236}">
                <a16:creationId xmlns:a16="http://schemas.microsoft.com/office/drawing/2014/main" id="{A51B6EEB-96F4-A0FD-F0B7-A6E0DFC14B7C}"/>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Every step is one click for the cyclist. The server decides, the station executes.</a:t>
            </a:r>
            <a:endParaRPr lang="de-DE" sz="1350">
              <a:solidFill>
                <a:srgbClr val="3F4943"/>
              </a:solidFill>
              <a:latin typeface="Segoe UI" panose="020B0502040204020203" pitchFamily="34" charset="0"/>
            </a:endParaRPr>
          </a:p>
        </p:txBody>
      </p:sp>
      <p:cxnSp>
        <p:nvCxnSpPr>
          <p:cNvPr id="6" name="Gerader Verbinder 5">
            <a:extLst>
              <a:ext uri="{FF2B5EF4-FFF2-40B4-BE49-F238E27FC236}">
                <a16:creationId xmlns:a16="http://schemas.microsoft.com/office/drawing/2014/main" id="{9824FE5B-AA00-3FF3-C0DA-0E84DBE37840}"/>
              </a:ext>
            </a:extLst>
          </p:cNvPr>
          <p:cNvCxnSpPr/>
          <p:nvPr/>
        </p:nvCxnSpPr>
        <p:spPr>
          <a:xfrm>
            <a:off x="1524000" y="2628900"/>
            <a:ext cx="9144000" cy="0"/>
          </a:xfrm>
          <a:prstGeom prst="line">
            <a:avLst/>
          </a:prstGeom>
          <a:ln w="25400">
            <a:solidFill>
              <a:srgbClr val="1D7656"/>
            </a:solidFill>
            <a:prstDash val="dash"/>
          </a:ln>
        </p:spPr>
        <p:style>
          <a:lnRef idx="2">
            <a:schemeClr val="accent1"/>
          </a:lnRef>
          <a:fillRef idx="0">
            <a:schemeClr val="accent1"/>
          </a:fillRef>
          <a:effectRef idx="1">
            <a:schemeClr val="accent1"/>
          </a:effectRef>
          <a:fontRef idx="minor">
            <a:schemeClr val="tx1"/>
          </a:fontRef>
        </p:style>
      </p:cxnSp>
      <p:sp>
        <p:nvSpPr>
          <p:cNvPr id="7" name="Ellipse 6">
            <a:extLst>
              <a:ext uri="{FF2B5EF4-FFF2-40B4-BE49-F238E27FC236}">
                <a16:creationId xmlns:a16="http://schemas.microsoft.com/office/drawing/2014/main" id="{46244151-1EC5-77F9-8D18-B34CF1091FBF}"/>
              </a:ext>
            </a:extLst>
          </p:cNvPr>
          <p:cNvSpPr/>
          <p:nvPr/>
        </p:nvSpPr>
        <p:spPr>
          <a:xfrm>
            <a:off x="1219200" y="2324100"/>
            <a:ext cx="609600" cy="609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rgbClr val="FFFFFF"/>
                </a:solidFill>
                <a:latin typeface="Segoe UI Semibold" panose="020B0702040204020203" pitchFamily="34" charset="0"/>
              </a:rPr>
              <a:t>1</a:t>
            </a:r>
          </a:p>
        </p:txBody>
      </p:sp>
      <p:sp>
        <p:nvSpPr>
          <p:cNvPr id="8" name="Textfeld 7">
            <a:extLst>
              <a:ext uri="{FF2B5EF4-FFF2-40B4-BE49-F238E27FC236}">
                <a16:creationId xmlns:a16="http://schemas.microsoft.com/office/drawing/2014/main" id="{B125A597-3877-A242-3448-EA4BBF58E827}"/>
              </a:ext>
            </a:extLst>
          </p:cNvPr>
          <p:cNvSpPr txBox="1"/>
          <p:nvPr/>
        </p:nvSpPr>
        <p:spPr>
          <a:xfrm>
            <a:off x="508000" y="3124200"/>
            <a:ext cx="2032000" cy="369332"/>
          </a:xfrm>
          <a:prstGeom prst="rect">
            <a:avLst/>
          </a:prstGeom>
          <a:noFill/>
        </p:spPr>
        <p:txBody>
          <a:bodyPr vert="horz" wrap="square" lIns="0" tIns="0" rIns="0" bIns="0" rtlCol="0">
            <a:noAutofit/>
          </a:bodyPr>
          <a:lstStyle/>
          <a:p>
            <a:pPr algn="ctr">
              <a:lnSpc>
                <a:spcPct val="110000"/>
              </a:lnSpc>
            </a:pPr>
            <a:r>
              <a:rPr lang="de-DE" sz="1600">
                <a:solidFill>
                  <a:srgbClr val="202A27"/>
                </a:solidFill>
                <a:latin typeface="Segoe UI Semibold" panose="020B0702040204020203" pitchFamily="34" charset="0"/>
              </a:rPr>
              <a:t>See a free spot</a:t>
            </a:r>
          </a:p>
        </p:txBody>
      </p:sp>
      <p:sp>
        <p:nvSpPr>
          <p:cNvPr id="9" name="Textfeld 8">
            <a:extLst>
              <a:ext uri="{FF2B5EF4-FFF2-40B4-BE49-F238E27FC236}">
                <a16:creationId xmlns:a16="http://schemas.microsoft.com/office/drawing/2014/main" id="{300F80DD-B843-E008-31FF-4D644BA1D8D0}"/>
              </a:ext>
            </a:extLst>
          </p:cNvPr>
          <p:cNvSpPr txBox="1"/>
          <p:nvPr/>
        </p:nvSpPr>
        <p:spPr>
          <a:xfrm>
            <a:off x="508000" y="3479800"/>
            <a:ext cx="2032000" cy="369332"/>
          </a:xfrm>
          <a:prstGeom prst="rect">
            <a:avLst/>
          </a:prstGeom>
          <a:noFill/>
        </p:spPr>
        <p:txBody>
          <a:bodyPr vert="horz" wrap="square" lIns="0" tIns="0" rIns="0" bIns="0" rtlCol="0">
            <a:noAutofit/>
          </a:bodyPr>
          <a:lstStyle/>
          <a:p>
            <a:pPr algn="ctr">
              <a:lnSpc>
                <a:spcPct val="110000"/>
              </a:lnSpc>
            </a:pPr>
            <a:r>
              <a:rPr lang="en-US" sz="1150">
                <a:solidFill>
                  <a:srgbClr val="3F4943"/>
                </a:solidFill>
                <a:latin typeface="Segoe UI" panose="020B0502040204020203" pitchFamily="34" charset="0"/>
              </a:rPr>
              <a:t>Overview shows "Stellplatz 1 is free" with its location.</a:t>
            </a:r>
            <a:endParaRPr lang="de-DE" sz="1150">
              <a:solidFill>
                <a:srgbClr val="3F4943"/>
              </a:solidFill>
              <a:latin typeface="Segoe UI" panose="020B0502040204020203" pitchFamily="34" charset="0"/>
            </a:endParaRPr>
          </a:p>
        </p:txBody>
      </p:sp>
      <p:sp>
        <p:nvSpPr>
          <p:cNvPr id="10" name="Ellipse 9">
            <a:extLst>
              <a:ext uri="{FF2B5EF4-FFF2-40B4-BE49-F238E27FC236}">
                <a16:creationId xmlns:a16="http://schemas.microsoft.com/office/drawing/2014/main" id="{08E2E9E2-E7A7-B2EC-BD87-D1EBEA9A9294}"/>
              </a:ext>
            </a:extLst>
          </p:cNvPr>
          <p:cNvSpPr/>
          <p:nvPr/>
        </p:nvSpPr>
        <p:spPr>
          <a:xfrm>
            <a:off x="3505200" y="2324100"/>
            <a:ext cx="609600" cy="609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rgbClr val="FFFFFF"/>
                </a:solidFill>
                <a:latin typeface="Segoe UI Semibold" panose="020B0702040204020203" pitchFamily="34" charset="0"/>
              </a:rPr>
              <a:t>2</a:t>
            </a:r>
          </a:p>
        </p:txBody>
      </p:sp>
      <p:sp>
        <p:nvSpPr>
          <p:cNvPr id="11" name="Textfeld 10">
            <a:extLst>
              <a:ext uri="{FF2B5EF4-FFF2-40B4-BE49-F238E27FC236}">
                <a16:creationId xmlns:a16="http://schemas.microsoft.com/office/drawing/2014/main" id="{FC7C1074-5A5B-578B-E515-7F636461EE19}"/>
              </a:ext>
            </a:extLst>
          </p:cNvPr>
          <p:cNvSpPr txBox="1"/>
          <p:nvPr/>
        </p:nvSpPr>
        <p:spPr>
          <a:xfrm>
            <a:off x="2794000" y="3124200"/>
            <a:ext cx="2032000" cy="369332"/>
          </a:xfrm>
          <a:prstGeom prst="rect">
            <a:avLst/>
          </a:prstGeom>
          <a:noFill/>
        </p:spPr>
        <p:txBody>
          <a:bodyPr vert="horz" wrap="square" lIns="0" tIns="0" rIns="0" bIns="0" rtlCol="0">
            <a:noAutofit/>
          </a:bodyPr>
          <a:lstStyle/>
          <a:p>
            <a:pPr algn="ctr">
              <a:lnSpc>
                <a:spcPct val="110000"/>
              </a:lnSpc>
            </a:pPr>
            <a:r>
              <a:rPr lang="de-DE" sz="1600">
                <a:solidFill>
                  <a:srgbClr val="202A27"/>
                </a:solidFill>
                <a:latin typeface="Segoe UI Semibold" panose="020B0702040204020203" pitchFamily="34" charset="0"/>
              </a:rPr>
              <a:t>Book</a:t>
            </a:r>
          </a:p>
        </p:txBody>
      </p:sp>
      <p:sp>
        <p:nvSpPr>
          <p:cNvPr id="12" name="Textfeld 11">
            <a:extLst>
              <a:ext uri="{FF2B5EF4-FFF2-40B4-BE49-F238E27FC236}">
                <a16:creationId xmlns:a16="http://schemas.microsoft.com/office/drawing/2014/main" id="{A39D017E-D0A4-F351-E413-DE8CE6D4235D}"/>
              </a:ext>
            </a:extLst>
          </p:cNvPr>
          <p:cNvSpPr txBox="1"/>
          <p:nvPr/>
        </p:nvSpPr>
        <p:spPr>
          <a:xfrm>
            <a:off x="2794000" y="3479800"/>
            <a:ext cx="2032000" cy="369332"/>
          </a:xfrm>
          <a:prstGeom prst="rect">
            <a:avLst/>
          </a:prstGeom>
          <a:noFill/>
        </p:spPr>
        <p:txBody>
          <a:bodyPr vert="horz" wrap="square" lIns="0" tIns="0" rIns="0" bIns="0" rtlCol="0">
            <a:noAutofit/>
          </a:bodyPr>
          <a:lstStyle/>
          <a:p>
            <a:pPr algn="ctr">
              <a:lnSpc>
                <a:spcPct val="110000"/>
              </a:lnSpc>
            </a:pPr>
            <a:r>
              <a:rPr lang="en-US" sz="1150">
                <a:solidFill>
                  <a:srgbClr val="3F4943"/>
                </a:solidFill>
                <a:latin typeface="Segoe UI" panose="020B0502040204020203" pitchFamily="34" charset="0"/>
              </a:rPr>
              <a:t>One click – the servo latch opens the box.</a:t>
            </a:r>
            <a:endParaRPr lang="de-DE" sz="1150">
              <a:solidFill>
                <a:srgbClr val="3F4943"/>
              </a:solidFill>
              <a:latin typeface="Segoe UI" panose="020B0502040204020203" pitchFamily="34" charset="0"/>
            </a:endParaRPr>
          </a:p>
        </p:txBody>
      </p:sp>
      <p:sp>
        <p:nvSpPr>
          <p:cNvPr id="13" name="Rechteck: abgerundete Ecken 12">
            <a:extLst>
              <a:ext uri="{FF2B5EF4-FFF2-40B4-BE49-F238E27FC236}">
                <a16:creationId xmlns:a16="http://schemas.microsoft.com/office/drawing/2014/main" id="{F2877DE9-FC85-313C-E2DF-205507A84F60}"/>
              </a:ext>
            </a:extLst>
          </p:cNvPr>
          <p:cNvSpPr/>
          <p:nvPr/>
        </p:nvSpPr>
        <p:spPr>
          <a:xfrm>
            <a:off x="3238500" y="4445000"/>
            <a:ext cx="1143000" cy="254000"/>
          </a:xfrm>
          <a:prstGeom prst="roundRect">
            <a:avLst>
              <a:gd name="adj" fmla="val 50000"/>
            </a:avLst>
          </a:prstGeom>
          <a:solidFill>
            <a:srgbClr val="E2F1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155F44"/>
                </a:solidFill>
                <a:latin typeface="Segoe UI Semibold" panose="020B0702040204020203" pitchFamily="34" charset="0"/>
              </a:rPr>
              <a:t>LATCH OPEN</a:t>
            </a:r>
          </a:p>
        </p:txBody>
      </p:sp>
      <p:sp>
        <p:nvSpPr>
          <p:cNvPr id="14" name="Ellipse 13">
            <a:extLst>
              <a:ext uri="{FF2B5EF4-FFF2-40B4-BE49-F238E27FC236}">
                <a16:creationId xmlns:a16="http://schemas.microsoft.com/office/drawing/2014/main" id="{45FA92F4-154C-20A4-6450-2CE0B0E49AD8}"/>
              </a:ext>
            </a:extLst>
          </p:cNvPr>
          <p:cNvSpPr/>
          <p:nvPr/>
        </p:nvSpPr>
        <p:spPr>
          <a:xfrm>
            <a:off x="5791200" y="2324100"/>
            <a:ext cx="609600" cy="609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rgbClr val="FFFFFF"/>
                </a:solidFill>
                <a:latin typeface="Segoe UI Semibold" panose="020B0702040204020203" pitchFamily="34" charset="0"/>
              </a:rPr>
              <a:t>3</a:t>
            </a:r>
          </a:p>
        </p:txBody>
      </p:sp>
      <p:sp>
        <p:nvSpPr>
          <p:cNvPr id="15" name="Textfeld 14">
            <a:extLst>
              <a:ext uri="{FF2B5EF4-FFF2-40B4-BE49-F238E27FC236}">
                <a16:creationId xmlns:a16="http://schemas.microsoft.com/office/drawing/2014/main" id="{F168A190-1C57-6522-BDDF-21E93805F3FD}"/>
              </a:ext>
            </a:extLst>
          </p:cNvPr>
          <p:cNvSpPr txBox="1"/>
          <p:nvPr/>
        </p:nvSpPr>
        <p:spPr>
          <a:xfrm>
            <a:off x="5080000" y="3124200"/>
            <a:ext cx="2032000" cy="369332"/>
          </a:xfrm>
          <a:prstGeom prst="rect">
            <a:avLst/>
          </a:prstGeom>
          <a:noFill/>
        </p:spPr>
        <p:txBody>
          <a:bodyPr vert="horz" wrap="square" lIns="0" tIns="0" rIns="0" bIns="0" rtlCol="0">
            <a:noAutofit/>
          </a:bodyPr>
          <a:lstStyle/>
          <a:p>
            <a:pPr algn="ctr">
              <a:lnSpc>
                <a:spcPct val="110000"/>
              </a:lnSpc>
            </a:pPr>
            <a:r>
              <a:rPr lang="de-DE" sz="1600">
                <a:solidFill>
                  <a:srgbClr val="202A27"/>
                </a:solidFill>
                <a:latin typeface="Segoe UI Semibold" panose="020B0702040204020203" pitchFamily="34" charset="0"/>
              </a:rPr>
              <a:t>Park</a:t>
            </a:r>
          </a:p>
        </p:txBody>
      </p:sp>
      <p:sp>
        <p:nvSpPr>
          <p:cNvPr id="16" name="Textfeld 15">
            <a:extLst>
              <a:ext uri="{FF2B5EF4-FFF2-40B4-BE49-F238E27FC236}">
                <a16:creationId xmlns:a16="http://schemas.microsoft.com/office/drawing/2014/main" id="{7C34D3B9-E17C-BECC-F44D-88C77D4E8717}"/>
              </a:ext>
            </a:extLst>
          </p:cNvPr>
          <p:cNvSpPr txBox="1"/>
          <p:nvPr/>
        </p:nvSpPr>
        <p:spPr>
          <a:xfrm>
            <a:off x="5080000" y="3479800"/>
            <a:ext cx="2032000" cy="369332"/>
          </a:xfrm>
          <a:prstGeom prst="rect">
            <a:avLst/>
          </a:prstGeom>
          <a:noFill/>
        </p:spPr>
        <p:txBody>
          <a:bodyPr vert="horz" wrap="square" lIns="0" tIns="0" rIns="0" bIns="0" rtlCol="0">
            <a:noAutofit/>
          </a:bodyPr>
          <a:lstStyle/>
          <a:p>
            <a:pPr algn="ctr">
              <a:lnSpc>
                <a:spcPct val="110000"/>
              </a:lnSpc>
            </a:pPr>
            <a:r>
              <a:rPr lang="en-US" sz="1150">
                <a:solidFill>
                  <a:srgbClr val="3F4943"/>
                </a:solidFill>
                <a:latin typeface="Segoe UI" panose="020B0502040204020203" pitchFamily="34" charset="0"/>
              </a:rPr>
              <a:t>Ultrasonic detects the bike; after 5 s the box locks.</a:t>
            </a:r>
            <a:endParaRPr lang="de-DE" sz="1150">
              <a:solidFill>
                <a:srgbClr val="3F4943"/>
              </a:solidFill>
              <a:latin typeface="Segoe UI" panose="020B0502040204020203" pitchFamily="34" charset="0"/>
            </a:endParaRPr>
          </a:p>
        </p:txBody>
      </p:sp>
      <p:sp>
        <p:nvSpPr>
          <p:cNvPr id="17" name="Rechteck: abgerundete Ecken 16">
            <a:extLst>
              <a:ext uri="{FF2B5EF4-FFF2-40B4-BE49-F238E27FC236}">
                <a16:creationId xmlns:a16="http://schemas.microsoft.com/office/drawing/2014/main" id="{E440D8F7-34C4-3DE4-FDA0-5E69EC700602}"/>
              </a:ext>
            </a:extLst>
          </p:cNvPr>
          <p:cNvSpPr/>
          <p:nvPr/>
        </p:nvSpPr>
        <p:spPr>
          <a:xfrm>
            <a:off x="5461000" y="4445000"/>
            <a:ext cx="1270000" cy="254000"/>
          </a:xfrm>
          <a:prstGeom prst="roundRect">
            <a:avLst>
              <a:gd name="adj" fmla="val 50000"/>
            </a:avLst>
          </a:prstGeom>
          <a:solidFill>
            <a:srgbClr val="FFFFFF"/>
          </a:solidFill>
          <a:ln w="19050" cap="flat" cmpd="sng" algn="ctr">
            <a:solidFill>
              <a:srgbClr val="E5E9E3"/>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202A27"/>
                </a:solidFill>
                <a:latin typeface="Segoe UI Semibold" panose="020B0702040204020203" pitchFamily="34" charset="0"/>
              </a:rPr>
              <a:t>LATCH CLOSED</a:t>
            </a:r>
          </a:p>
        </p:txBody>
      </p:sp>
      <p:sp>
        <p:nvSpPr>
          <p:cNvPr id="18" name="Ellipse 17">
            <a:extLst>
              <a:ext uri="{FF2B5EF4-FFF2-40B4-BE49-F238E27FC236}">
                <a16:creationId xmlns:a16="http://schemas.microsoft.com/office/drawing/2014/main" id="{AF276830-5293-CF97-8668-F17948820A21}"/>
              </a:ext>
            </a:extLst>
          </p:cNvPr>
          <p:cNvSpPr/>
          <p:nvPr/>
        </p:nvSpPr>
        <p:spPr>
          <a:xfrm>
            <a:off x="8077200" y="2324100"/>
            <a:ext cx="609600" cy="609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rgbClr val="FFFFFF"/>
                </a:solidFill>
                <a:latin typeface="Segoe UI Semibold" panose="020B0702040204020203" pitchFamily="34" charset="0"/>
              </a:rPr>
              <a:t>4</a:t>
            </a:r>
          </a:p>
        </p:txBody>
      </p:sp>
      <p:sp>
        <p:nvSpPr>
          <p:cNvPr id="19" name="Textfeld 18">
            <a:extLst>
              <a:ext uri="{FF2B5EF4-FFF2-40B4-BE49-F238E27FC236}">
                <a16:creationId xmlns:a16="http://schemas.microsoft.com/office/drawing/2014/main" id="{30E3C398-0642-1ED9-D9CA-03460A333473}"/>
              </a:ext>
            </a:extLst>
          </p:cNvPr>
          <p:cNvSpPr txBox="1"/>
          <p:nvPr/>
        </p:nvSpPr>
        <p:spPr>
          <a:xfrm>
            <a:off x="7366000" y="3124200"/>
            <a:ext cx="2032000" cy="369332"/>
          </a:xfrm>
          <a:prstGeom prst="rect">
            <a:avLst/>
          </a:prstGeom>
          <a:noFill/>
        </p:spPr>
        <p:txBody>
          <a:bodyPr vert="horz" wrap="square" lIns="0" tIns="0" rIns="0" bIns="0" rtlCol="0">
            <a:noAutofit/>
          </a:bodyPr>
          <a:lstStyle/>
          <a:p>
            <a:pPr algn="ctr">
              <a:lnSpc>
                <a:spcPct val="110000"/>
              </a:lnSpc>
            </a:pPr>
            <a:r>
              <a:rPr lang="de-DE" sz="1600">
                <a:solidFill>
                  <a:srgbClr val="202A27"/>
                </a:solidFill>
                <a:latin typeface="Segoe UI Semibold" panose="020B0702040204020203" pitchFamily="34" charset="0"/>
              </a:rPr>
              <a:t>Pick up</a:t>
            </a:r>
          </a:p>
        </p:txBody>
      </p:sp>
      <p:sp>
        <p:nvSpPr>
          <p:cNvPr id="20" name="Textfeld 19">
            <a:extLst>
              <a:ext uri="{FF2B5EF4-FFF2-40B4-BE49-F238E27FC236}">
                <a16:creationId xmlns:a16="http://schemas.microsoft.com/office/drawing/2014/main" id="{5D04C0B7-D7A5-D7B4-EB4F-C2C9374A925A}"/>
              </a:ext>
            </a:extLst>
          </p:cNvPr>
          <p:cNvSpPr txBox="1"/>
          <p:nvPr/>
        </p:nvSpPr>
        <p:spPr>
          <a:xfrm>
            <a:off x="7366000" y="3479800"/>
            <a:ext cx="2032000" cy="369332"/>
          </a:xfrm>
          <a:prstGeom prst="rect">
            <a:avLst/>
          </a:prstGeom>
          <a:noFill/>
        </p:spPr>
        <p:txBody>
          <a:bodyPr vert="horz" wrap="square" lIns="0" tIns="0" rIns="0" bIns="0" rtlCol="0">
            <a:noAutofit/>
          </a:bodyPr>
          <a:lstStyle/>
          <a:p>
            <a:pPr algn="ctr">
              <a:lnSpc>
                <a:spcPct val="110000"/>
              </a:lnSpc>
            </a:pPr>
            <a:r>
              <a:rPr lang="en-US" sz="1150">
                <a:solidFill>
                  <a:srgbClr val="3F4943"/>
                </a:solidFill>
                <a:latin typeface="Segoe UI" panose="020B0502040204020203" pitchFamily="34" charset="0"/>
              </a:rPr>
              <a:t>Tap "Pick up" – the box opens again.</a:t>
            </a:r>
            <a:endParaRPr lang="de-DE" sz="1150">
              <a:solidFill>
                <a:srgbClr val="3F4943"/>
              </a:solidFill>
              <a:latin typeface="Segoe UI" panose="020B0502040204020203" pitchFamily="34" charset="0"/>
            </a:endParaRPr>
          </a:p>
        </p:txBody>
      </p:sp>
      <p:sp>
        <p:nvSpPr>
          <p:cNvPr id="21" name="Rechteck: abgerundete Ecken 20">
            <a:extLst>
              <a:ext uri="{FF2B5EF4-FFF2-40B4-BE49-F238E27FC236}">
                <a16:creationId xmlns:a16="http://schemas.microsoft.com/office/drawing/2014/main" id="{B4B9CD16-A266-48FD-6900-F1A8FDC6A0D3}"/>
              </a:ext>
            </a:extLst>
          </p:cNvPr>
          <p:cNvSpPr/>
          <p:nvPr/>
        </p:nvSpPr>
        <p:spPr>
          <a:xfrm>
            <a:off x="7810500" y="4445000"/>
            <a:ext cx="1143000" cy="254000"/>
          </a:xfrm>
          <a:prstGeom prst="roundRect">
            <a:avLst>
              <a:gd name="adj" fmla="val 50000"/>
            </a:avLst>
          </a:prstGeom>
          <a:solidFill>
            <a:srgbClr val="E2F1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155F44"/>
                </a:solidFill>
                <a:latin typeface="Segoe UI Semibold" panose="020B0702040204020203" pitchFamily="34" charset="0"/>
              </a:rPr>
              <a:t>LATCH OPEN</a:t>
            </a:r>
          </a:p>
        </p:txBody>
      </p:sp>
      <p:sp>
        <p:nvSpPr>
          <p:cNvPr id="22" name="Ellipse 21">
            <a:extLst>
              <a:ext uri="{FF2B5EF4-FFF2-40B4-BE49-F238E27FC236}">
                <a16:creationId xmlns:a16="http://schemas.microsoft.com/office/drawing/2014/main" id="{6A686092-5317-9BBD-C1CB-A1263E142C9A}"/>
              </a:ext>
            </a:extLst>
          </p:cNvPr>
          <p:cNvSpPr/>
          <p:nvPr/>
        </p:nvSpPr>
        <p:spPr>
          <a:xfrm>
            <a:off x="10363200" y="2324100"/>
            <a:ext cx="609600" cy="609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solidFill>
                  <a:srgbClr val="FFFFFF"/>
                </a:solidFill>
                <a:latin typeface="Segoe UI Semibold" panose="020B0702040204020203" pitchFamily="34" charset="0"/>
              </a:rPr>
              <a:t>5</a:t>
            </a:r>
          </a:p>
        </p:txBody>
      </p:sp>
      <p:sp>
        <p:nvSpPr>
          <p:cNvPr id="23" name="Textfeld 22">
            <a:extLst>
              <a:ext uri="{FF2B5EF4-FFF2-40B4-BE49-F238E27FC236}">
                <a16:creationId xmlns:a16="http://schemas.microsoft.com/office/drawing/2014/main" id="{178C1EAB-7235-6AE1-FB81-D600DD97D2D8}"/>
              </a:ext>
            </a:extLst>
          </p:cNvPr>
          <p:cNvSpPr txBox="1"/>
          <p:nvPr/>
        </p:nvSpPr>
        <p:spPr>
          <a:xfrm>
            <a:off x="9652000" y="3124200"/>
            <a:ext cx="2032000" cy="369332"/>
          </a:xfrm>
          <a:prstGeom prst="rect">
            <a:avLst/>
          </a:prstGeom>
          <a:noFill/>
        </p:spPr>
        <p:txBody>
          <a:bodyPr vert="horz" wrap="square" lIns="0" tIns="0" rIns="0" bIns="0" rtlCol="0">
            <a:noAutofit/>
          </a:bodyPr>
          <a:lstStyle/>
          <a:p>
            <a:pPr algn="ctr">
              <a:lnSpc>
                <a:spcPct val="110000"/>
              </a:lnSpc>
            </a:pPr>
            <a:r>
              <a:rPr lang="de-DE" sz="1600">
                <a:solidFill>
                  <a:srgbClr val="202A27"/>
                </a:solidFill>
                <a:latin typeface="Segoe UI Semibold" panose="020B0702040204020203" pitchFamily="34" charset="0"/>
              </a:rPr>
              <a:t>Done</a:t>
            </a:r>
          </a:p>
        </p:txBody>
      </p:sp>
      <p:sp>
        <p:nvSpPr>
          <p:cNvPr id="24" name="Textfeld 23">
            <a:extLst>
              <a:ext uri="{FF2B5EF4-FFF2-40B4-BE49-F238E27FC236}">
                <a16:creationId xmlns:a16="http://schemas.microsoft.com/office/drawing/2014/main" id="{CCC6CCEB-F2DC-0B1A-1666-643CD17A3BFF}"/>
              </a:ext>
            </a:extLst>
          </p:cNvPr>
          <p:cNvSpPr txBox="1"/>
          <p:nvPr/>
        </p:nvSpPr>
        <p:spPr>
          <a:xfrm>
            <a:off x="9652000" y="3479800"/>
            <a:ext cx="2032000" cy="369332"/>
          </a:xfrm>
          <a:prstGeom prst="rect">
            <a:avLst/>
          </a:prstGeom>
          <a:noFill/>
        </p:spPr>
        <p:txBody>
          <a:bodyPr vert="horz" wrap="square" lIns="0" tIns="0" rIns="0" bIns="0" rtlCol="0">
            <a:noAutofit/>
          </a:bodyPr>
          <a:lstStyle/>
          <a:p>
            <a:pPr algn="ctr">
              <a:lnSpc>
                <a:spcPct val="110000"/>
              </a:lnSpc>
            </a:pPr>
            <a:r>
              <a:rPr lang="en-US" sz="1150">
                <a:solidFill>
                  <a:srgbClr val="3F4943"/>
                </a:solidFill>
                <a:latin typeface="Segoe UI" panose="020B0502040204020203" pitchFamily="34" charset="0"/>
              </a:rPr>
              <a:t>Bike removed for 5 s – box closes and is free again.</a:t>
            </a:r>
            <a:endParaRPr lang="de-DE" sz="1150">
              <a:solidFill>
                <a:srgbClr val="3F4943"/>
              </a:solidFill>
              <a:latin typeface="Segoe UI" panose="020B0502040204020203" pitchFamily="34" charset="0"/>
            </a:endParaRPr>
          </a:p>
        </p:txBody>
      </p:sp>
      <p:sp>
        <p:nvSpPr>
          <p:cNvPr id="25" name="Rechteck: abgerundete Ecken 24">
            <a:extLst>
              <a:ext uri="{FF2B5EF4-FFF2-40B4-BE49-F238E27FC236}">
                <a16:creationId xmlns:a16="http://schemas.microsoft.com/office/drawing/2014/main" id="{D20AE52E-3D06-985F-EA90-A8AE2DA7E049}"/>
              </a:ext>
            </a:extLst>
          </p:cNvPr>
          <p:cNvSpPr/>
          <p:nvPr/>
        </p:nvSpPr>
        <p:spPr>
          <a:xfrm>
            <a:off x="10033000" y="4445000"/>
            <a:ext cx="1270000" cy="254000"/>
          </a:xfrm>
          <a:prstGeom prst="roundRect">
            <a:avLst>
              <a:gd name="adj" fmla="val 50000"/>
            </a:avLst>
          </a:prstGeom>
          <a:solidFill>
            <a:srgbClr val="FFFFFF"/>
          </a:solidFill>
          <a:ln w="19050" cap="flat" cmpd="sng" algn="ctr">
            <a:solidFill>
              <a:srgbClr val="E5E9E3"/>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202A27"/>
                </a:solidFill>
                <a:latin typeface="Segoe UI Semibold" panose="020B0702040204020203" pitchFamily="34" charset="0"/>
              </a:rPr>
              <a:t>LATCH CLOSED</a:t>
            </a:r>
          </a:p>
        </p:txBody>
      </p:sp>
      <p:sp>
        <p:nvSpPr>
          <p:cNvPr id="26" name="Rechteck: abgerundete Ecken 25">
            <a:extLst>
              <a:ext uri="{FF2B5EF4-FFF2-40B4-BE49-F238E27FC236}">
                <a16:creationId xmlns:a16="http://schemas.microsoft.com/office/drawing/2014/main" id="{EB861FED-909F-7968-C440-A0434ACCD97B}"/>
              </a:ext>
            </a:extLst>
          </p:cNvPr>
          <p:cNvSpPr/>
          <p:nvPr/>
        </p:nvSpPr>
        <p:spPr>
          <a:xfrm>
            <a:off x="609600" y="5207000"/>
            <a:ext cx="10972800" cy="812800"/>
          </a:xfrm>
          <a:prstGeom prst="roundRect">
            <a:avLst>
              <a:gd name="adj" fmla="val 15625"/>
            </a:avLst>
          </a:prstGeom>
          <a:solidFill>
            <a:srgbClr val="FDECEA"/>
          </a:solidFill>
          <a:ln w="12700">
            <a:solidFill>
              <a:srgbClr val="EFC4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a:extLst>
              <a:ext uri="{FF2B5EF4-FFF2-40B4-BE49-F238E27FC236}">
                <a16:creationId xmlns:a16="http://schemas.microsoft.com/office/drawing/2014/main" id="{EBA0C230-8A17-94F8-5615-F1E5C62B4941}"/>
              </a:ext>
            </a:extLst>
          </p:cNvPr>
          <p:cNvSpPr/>
          <p:nvPr/>
        </p:nvSpPr>
        <p:spPr>
          <a:xfrm>
            <a:off x="609600" y="5207000"/>
            <a:ext cx="76200" cy="812800"/>
          </a:xfrm>
          <a:prstGeom prst="rect">
            <a:avLst/>
          </a:prstGeom>
          <a:solidFill>
            <a:srgbClr val="B347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feld 27">
            <a:extLst>
              <a:ext uri="{FF2B5EF4-FFF2-40B4-BE49-F238E27FC236}">
                <a16:creationId xmlns:a16="http://schemas.microsoft.com/office/drawing/2014/main" id="{9D99DCCA-404E-2B09-90F4-4E9101CEC4E6}"/>
              </a:ext>
            </a:extLst>
          </p:cNvPr>
          <p:cNvSpPr txBox="1"/>
          <p:nvPr/>
        </p:nvSpPr>
        <p:spPr>
          <a:xfrm>
            <a:off x="914400" y="5334000"/>
            <a:ext cx="10414000" cy="369332"/>
          </a:xfrm>
          <a:prstGeom prst="rect">
            <a:avLst/>
          </a:prstGeom>
          <a:noFill/>
        </p:spPr>
        <p:txBody>
          <a:bodyPr vert="horz" wrap="square" lIns="0" tIns="0" rIns="0" bIns="0" rtlCol="0">
            <a:noAutofit/>
          </a:bodyPr>
          <a:lstStyle/>
          <a:p>
            <a:pPr>
              <a:lnSpc>
                <a:spcPct val="110000"/>
              </a:lnSpc>
            </a:pPr>
            <a:r>
              <a:rPr lang="en-US" sz="1300">
                <a:solidFill>
                  <a:srgbClr val="B3473B"/>
                </a:solidFill>
                <a:latin typeface="Segoe UI" panose="020B0502040204020203" pitchFamily="34" charset="0"/>
              </a:rPr>
              <a:t>And if the bike leaves the locked box without being opened?  The owner gets an alarm with sound, the box is blocked and the admin sees exactly who, when and where.</a:t>
            </a:r>
            <a:endParaRPr lang="de-DE" sz="1300">
              <a:solidFill>
                <a:srgbClr val="B3473B"/>
              </a:solidFill>
              <a:latin typeface="Segoe UI" panose="020B0502040204020203" pitchFamily="34" charset="0"/>
            </a:endParaRPr>
          </a:p>
        </p:txBody>
      </p:sp>
      <p:sp>
        <p:nvSpPr>
          <p:cNvPr id="29" name="Textfeld 28">
            <a:extLst>
              <a:ext uri="{FF2B5EF4-FFF2-40B4-BE49-F238E27FC236}">
                <a16:creationId xmlns:a16="http://schemas.microsoft.com/office/drawing/2014/main" id="{EB41F7E5-1C1B-EE25-91CA-EFA33364A9D9}"/>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30" name="Textfeld 29">
            <a:extLst>
              <a:ext uri="{FF2B5EF4-FFF2-40B4-BE49-F238E27FC236}">
                <a16:creationId xmlns:a16="http://schemas.microsoft.com/office/drawing/2014/main" id="{4AA32F26-4D89-BE50-4350-9895A14220AF}"/>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3</a:t>
            </a:r>
          </a:p>
        </p:txBody>
      </p:sp>
    </p:spTree>
    <p:extLst>
      <p:ext uri="{BB962C8B-B14F-4D97-AF65-F5344CB8AC3E}">
        <p14:creationId xmlns:p14="http://schemas.microsoft.com/office/powerpoint/2010/main" val="3426217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F577C97B-FAF1-F572-9985-F0093D230AE1}"/>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AC21EAEA-F1CB-753E-9D83-E1FC10E5F5D6}"/>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STEP 1 + 2</a:t>
            </a:r>
          </a:p>
        </p:txBody>
      </p:sp>
      <p:sp>
        <p:nvSpPr>
          <p:cNvPr id="4" name="Textfeld 3">
            <a:extLst>
              <a:ext uri="{FF2B5EF4-FFF2-40B4-BE49-F238E27FC236}">
                <a16:creationId xmlns:a16="http://schemas.microsoft.com/office/drawing/2014/main" id="{3C77B99E-C15C-48C3-8471-8B10C989839C}"/>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en-US" sz="3000">
                <a:solidFill>
                  <a:srgbClr val="202A27"/>
                </a:solidFill>
                <a:latin typeface="Segoe UI Semibold" panose="020B0702040204020203" pitchFamily="34" charset="0"/>
              </a:rPr>
              <a:t>Find a free spot and book it</a:t>
            </a:r>
            <a:endParaRPr lang="de-DE" sz="3000">
              <a:solidFill>
                <a:srgbClr val="202A27"/>
              </a:solidFill>
              <a:latin typeface="Segoe UI Semibold" panose="020B0702040204020203" pitchFamily="34" charset="0"/>
            </a:endParaRPr>
          </a:p>
        </p:txBody>
      </p:sp>
      <p:sp>
        <p:nvSpPr>
          <p:cNvPr id="5" name="Textfeld 4">
            <a:extLst>
              <a:ext uri="{FF2B5EF4-FFF2-40B4-BE49-F238E27FC236}">
                <a16:creationId xmlns:a16="http://schemas.microsoft.com/office/drawing/2014/main" id="{11F6E4F6-B2E5-32A7-864B-08E77D6529E1}"/>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No app store, no key: the web app works on any phone or laptop.</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C0DB7B6F-9B2E-E8A3-F02A-203D2A2B833A}"/>
              </a:ext>
            </a:extLst>
          </p:cNvPr>
          <p:cNvSpPr/>
          <p:nvPr/>
        </p:nvSpPr>
        <p:spPr>
          <a:xfrm>
            <a:off x="609600" y="2032000"/>
            <a:ext cx="5334000" cy="3810000"/>
          </a:xfrm>
          <a:prstGeom prst="roundRect">
            <a:avLst>
              <a:gd name="adj" fmla="val 333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0019D3F4-A947-930E-D2EF-BCBA3AB907DE}"/>
              </a:ext>
            </a:extLst>
          </p:cNvPr>
          <p:cNvSpPr txBox="1"/>
          <p:nvPr/>
        </p:nvSpPr>
        <p:spPr>
          <a:xfrm>
            <a:off x="889000" y="2235200"/>
            <a:ext cx="4826000" cy="369332"/>
          </a:xfrm>
          <a:prstGeom prst="rect">
            <a:avLst/>
          </a:prstGeom>
          <a:noFill/>
        </p:spPr>
        <p:txBody>
          <a:bodyPr vert="horz" wrap="square" lIns="0" tIns="0" rIns="0" bIns="0" rtlCol="0">
            <a:noAutofit/>
          </a:bodyPr>
          <a:lstStyle/>
          <a:p>
            <a:pPr>
              <a:lnSpc>
                <a:spcPct val="110000"/>
              </a:lnSpc>
            </a:pPr>
            <a:r>
              <a:rPr lang="de-DE" sz="1000" b="1">
                <a:solidFill>
                  <a:srgbClr val="5D6660"/>
                </a:solidFill>
                <a:latin typeface="Segoe UI Semibold" panose="020B0702040204020203" pitchFamily="34" charset="0"/>
              </a:rPr>
              <a:t>WHAT THE CYCLIST DOES</a:t>
            </a:r>
          </a:p>
        </p:txBody>
      </p:sp>
      <p:sp>
        <p:nvSpPr>
          <p:cNvPr id="8" name="Ellipse 7">
            <a:extLst>
              <a:ext uri="{FF2B5EF4-FFF2-40B4-BE49-F238E27FC236}">
                <a16:creationId xmlns:a16="http://schemas.microsoft.com/office/drawing/2014/main" id="{B08EBC1F-A0E9-EBE2-F250-51EA526994E9}"/>
              </a:ext>
            </a:extLst>
          </p:cNvPr>
          <p:cNvSpPr/>
          <p:nvPr/>
        </p:nvSpPr>
        <p:spPr>
          <a:xfrm>
            <a:off x="889000" y="26289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D39874CB-8130-1FFE-8297-A6FC46B69CEB}"/>
              </a:ext>
            </a:extLst>
          </p:cNvPr>
          <p:cNvSpPr txBox="1"/>
          <p:nvPr/>
        </p:nvSpPr>
        <p:spPr>
          <a:xfrm>
            <a:off x="1117600" y="25654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Opens the site and sees "Stellplatz 1 is free" with location.</a:t>
            </a:r>
            <a:endParaRPr lang="de-DE" sz="1300">
              <a:solidFill>
                <a:srgbClr val="202A27"/>
              </a:solidFill>
              <a:latin typeface="Segoe UI" panose="020B0502040204020203" pitchFamily="34" charset="0"/>
            </a:endParaRPr>
          </a:p>
        </p:txBody>
      </p:sp>
      <p:sp>
        <p:nvSpPr>
          <p:cNvPr id="10" name="Ellipse 9">
            <a:extLst>
              <a:ext uri="{FF2B5EF4-FFF2-40B4-BE49-F238E27FC236}">
                <a16:creationId xmlns:a16="http://schemas.microsoft.com/office/drawing/2014/main" id="{D972E504-C510-37B3-3E8B-054B4194EBDF}"/>
              </a:ext>
            </a:extLst>
          </p:cNvPr>
          <p:cNvSpPr/>
          <p:nvPr/>
        </p:nvSpPr>
        <p:spPr>
          <a:xfrm>
            <a:off x="889000" y="31877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68DA9CBA-5B60-A1E3-BE39-1B43539F0B41}"/>
              </a:ext>
            </a:extLst>
          </p:cNvPr>
          <p:cNvSpPr txBox="1"/>
          <p:nvPr/>
        </p:nvSpPr>
        <p:spPr>
          <a:xfrm>
            <a:off x="1117600" y="31242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Taps the spot – lands on the booking page with the box highlighted.</a:t>
            </a:r>
            <a:endParaRPr lang="de-DE" sz="1300">
              <a:solidFill>
                <a:srgbClr val="202A27"/>
              </a:solidFill>
              <a:latin typeface="Segoe UI" panose="020B0502040204020203" pitchFamily="34" charset="0"/>
            </a:endParaRPr>
          </a:p>
        </p:txBody>
      </p:sp>
      <p:sp>
        <p:nvSpPr>
          <p:cNvPr id="12" name="Ellipse 11">
            <a:extLst>
              <a:ext uri="{FF2B5EF4-FFF2-40B4-BE49-F238E27FC236}">
                <a16:creationId xmlns:a16="http://schemas.microsoft.com/office/drawing/2014/main" id="{F174BA2E-BB48-248C-E4EE-ADD15F313CAD}"/>
              </a:ext>
            </a:extLst>
          </p:cNvPr>
          <p:cNvSpPr/>
          <p:nvPr/>
        </p:nvSpPr>
        <p:spPr>
          <a:xfrm>
            <a:off x="889000" y="37465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F18498C3-37AE-30C2-4AED-0512BB26C1E4}"/>
              </a:ext>
            </a:extLst>
          </p:cNvPr>
          <p:cNvSpPr txBox="1"/>
          <p:nvPr/>
        </p:nvSpPr>
        <p:spPr>
          <a:xfrm>
            <a:off x="1117600" y="36830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Signs in (username + password only) and taps "Book".</a:t>
            </a:r>
            <a:endParaRPr lang="de-DE" sz="1300">
              <a:solidFill>
                <a:srgbClr val="202A27"/>
              </a:solidFill>
              <a:latin typeface="Segoe UI" panose="020B0502040204020203" pitchFamily="34" charset="0"/>
            </a:endParaRPr>
          </a:p>
        </p:txBody>
      </p:sp>
      <p:sp>
        <p:nvSpPr>
          <p:cNvPr id="14" name="Ellipse 13">
            <a:extLst>
              <a:ext uri="{FF2B5EF4-FFF2-40B4-BE49-F238E27FC236}">
                <a16:creationId xmlns:a16="http://schemas.microsoft.com/office/drawing/2014/main" id="{866DEA04-9281-C7FA-C97D-51321FEB2040}"/>
              </a:ext>
            </a:extLst>
          </p:cNvPr>
          <p:cNvSpPr/>
          <p:nvPr/>
        </p:nvSpPr>
        <p:spPr>
          <a:xfrm>
            <a:off x="889000" y="43053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AE39999D-A7B3-526E-BCDB-CE86F95C9D13}"/>
              </a:ext>
            </a:extLst>
          </p:cNvPr>
          <p:cNvSpPr txBox="1"/>
          <p:nvPr/>
        </p:nvSpPr>
        <p:spPr>
          <a:xfrm>
            <a:off x="1117600" y="42418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The box opens in front of them.</a:t>
            </a:r>
            <a:endParaRPr lang="de-DE" sz="1300">
              <a:solidFill>
                <a:srgbClr val="202A27"/>
              </a:solidFill>
              <a:latin typeface="Segoe UI" panose="020B0502040204020203" pitchFamily="34" charset="0"/>
            </a:endParaRPr>
          </a:p>
        </p:txBody>
      </p:sp>
      <p:sp>
        <p:nvSpPr>
          <p:cNvPr id="16" name="Rechteck: abgerundete Ecken 15">
            <a:extLst>
              <a:ext uri="{FF2B5EF4-FFF2-40B4-BE49-F238E27FC236}">
                <a16:creationId xmlns:a16="http://schemas.microsoft.com/office/drawing/2014/main" id="{7D2A1B2E-6A73-D293-F2EF-5A555B715646}"/>
              </a:ext>
            </a:extLst>
          </p:cNvPr>
          <p:cNvSpPr/>
          <p:nvPr/>
        </p:nvSpPr>
        <p:spPr>
          <a:xfrm>
            <a:off x="889000" y="4851400"/>
            <a:ext cx="4775200" cy="787400"/>
          </a:xfrm>
          <a:prstGeom prst="roundRect">
            <a:avLst>
              <a:gd name="adj" fmla="val 16129"/>
            </a:avLst>
          </a:prstGeom>
          <a:solidFill>
            <a:srgbClr val="FFFFFF"/>
          </a:solidFill>
          <a:ln w="25400">
            <a:solidFill>
              <a:srgbClr val="202A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6">
            <a:extLst>
              <a:ext uri="{FF2B5EF4-FFF2-40B4-BE49-F238E27FC236}">
                <a16:creationId xmlns:a16="http://schemas.microsoft.com/office/drawing/2014/main" id="{C1BE1FF9-8060-9917-8105-F7BF0B948BD4}"/>
              </a:ext>
            </a:extLst>
          </p:cNvPr>
          <p:cNvSpPr txBox="1"/>
          <p:nvPr/>
        </p:nvSpPr>
        <p:spPr>
          <a:xfrm>
            <a:off x="1117600" y="4978400"/>
            <a:ext cx="292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Stellplatz 1 is free</a:t>
            </a:r>
          </a:p>
        </p:txBody>
      </p:sp>
      <p:sp>
        <p:nvSpPr>
          <p:cNvPr id="18" name="Textfeld 17">
            <a:extLst>
              <a:ext uri="{FF2B5EF4-FFF2-40B4-BE49-F238E27FC236}">
                <a16:creationId xmlns:a16="http://schemas.microsoft.com/office/drawing/2014/main" id="{07049796-B30F-16C2-1DBF-C22F56F657D0}"/>
              </a:ext>
            </a:extLst>
          </p:cNvPr>
          <p:cNvSpPr txBox="1"/>
          <p:nvPr/>
        </p:nvSpPr>
        <p:spPr>
          <a:xfrm>
            <a:off x="1117600" y="5283200"/>
            <a:ext cx="2921000" cy="369332"/>
          </a:xfrm>
          <a:prstGeom prst="rect">
            <a:avLst/>
          </a:prstGeom>
          <a:noFill/>
        </p:spPr>
        <p:txBody>
          <a:bodyPr vert="horz" wrap="square" lIns="0" tIns="0" rIns="0" bIns="0" rtlCol="0">
            <a:noAutofit/>
          </a:bodyPr>
          <a:lstStyle/>
          <a:p>
            <a:pPr>
              <a:lnSpc>
                <a:spcPct val="110000"/>
              </a:lnSpc>
            </a:pPr>
            <a:r>
              <a:rPr lang="de-DE" sz="1050">
                <a:solidFill>
                  <a:srgbClr val="3F4943"/>
                </a:solidFill>
                <a:latin typeface="Segoe UI" panose="020B0502040204020203" pitchFamily="34" charset="0"/>
              </a:rPr>
              <a:t>Hackathon Halle</a:t>
            </a:r>
          </a:p>
        </p:txBody>
      </p:sp>
      <p:sp>
        <p:nvSpPr>
          <p:cNvPr id="19" name="Rechteck: abgerundete Ecken 18">
            <a:extLst>
              <a:ext uri="{FF2B5EF4-FFF2-40B4-BE49-F238E27FC236}">
                <a16:creationId xmlns:a16="http://schemas.microsoft.com/office/drawing/2014/main" id="{807C6737-7ECE-A5C9-33AE-B336DA29C545}"/>
              </a:ext>
            </a:extLst>
          </p:cNvPr>
          <p:cNvSpPr/>
          <p:nvPr/>
        </p:nvSpPr>
        <p:spPr>
          <a:xfrm>
            <a:off x="4140200" y="5054600"/>
            <a:ext cx="1371600" cy="381000"/>
          </a:xfrm>
          <a:prstGeom prst="roundRect">
            <a:avLst>
              <a:gd name="adj" fmla="val 50000"/>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solidFill>
                  <a:srgbClr val="FFFFFF"/>
                </a:solidFill>
                <a:latin typeface="Segoe UI Semibold" panose="020B0702040204020203" pitchFamily="34" charset="0"/>
              </a:rPr>
              <a:t>Book now</a:t>
            </a:r>
          </a:p>
        </p:txBody>
      </p:sp>
      <p:sp>
        <p:nvSpPr>
          <p:cNvPr id="20" name="Rechteck: abgerundete Ecken 19">
            <a:extLst>
              <a:ext uri="{FF2B5EF4-FFF2-40B4-BE49-F238E27FC236}">
                <a16:creationId xmlns:a16="http://schemas.microsoft.com/office/drawing/2014/main" id="{2B631D28-EC9D-683D-CAE7-BE23FECF430E}"/>
              </a:ext>
            </a:extLst>
          </p:cNvPr>
          <p:cNvSpPr/>
          <p:nvPr/>
        </p:nvSpPr>
        <p:spPr>
          <a:xfrm>
            <a:off x="6223000" y="2032000"/>
            <a:ext cx="5359400" cy="3810000"/>
          </a:xfrm>
          <a:prstGeom prst="roundRect">
            <a:avLst>
              <a:gd name="adj" fmla="val 3333"/>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Textfeld 20">
            <a:extLst>
              <a:ext uri="{FF2B5EF4-FFF2-40B4-BE49-F238E27FC236}">
                <a16:creationId xmlns:a16="http://schemas.microsoft.com/office/drawing/2014/main" id="{E3F415B5-B060-8809-EF74-CFA75FA624F0}"/>
              </a:ext>
            </a:extLst>
          </p:cNvPr>
          <p:cNvSpPr txBox="1"/>
          <p:nvPr/>
        </p:nvSpPr>
        <p:spPr>
          <a:xfrm>
            <a:off x="6502400" y="2235200"/>
            <a:ext cx="4826000" cy="369332"/>
          </a:xfrm>
          <a:prstGeom prst="rect">
            <a:avLst/>
          </a:prstGeom>
          <a:noFill/>
        </p:spPr>
        <p:txBody>
          <a:bodyPr vert="horz" wrap="square" lIns="0" tIns="0" rIns="0" bIns="0" rtlCol="0">
            <a:noAutofit/>
          </a:bodyPr>
          <a:lstStyle/>
          <a:p>
            <a:pPr>
              <a:lnSpc>
                <a:spcPct val="110000"/>
              </a:lnSpc>
            </a:pPr>
            <a:r>
              <a:rPr lang="de-DE" sz="1000" b="1">
                <a:solidFill>
                  <a:srgbClr val="9FB0A7"/>
                </a:solidFill>
                <a:latin typeface="Segoe UI Semibold" panose="020B0702040204020203" pitchFamily="34" charset="0"/>
              </a:rPr>
              <a:t>BEHIND THE SCENES</a:t>
            </a:r>
          </a:p>
        </p:txBody>
      </p:sp>
      <p:sp>
        <p:nvSpPr>
          <p:cNvPr id="22" name="Textfeld 21">
            <a:extLst>
              <a:ext uri="{FF2B5EF4-FFF2-40B4-BE49-F238E27FC236}">
                <a16:creationId xmlns:a16="http://schemas.microsoft.com/office/drawing/2014/main" id="{7E1012DE-A024-B2A3-C302-C78D2F293923}"/>
              </a:ext>
            </a:extLst>
          </p:cNvPr>
          <p:cNvSpPr txBox="1"/>
          <p:nvPr/>
        </p:nvSpPr>
        <p:spPr>
          <a:xfrm>
            <a:off x="6502400" y="2565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3" name="Textfeld 22">
            <a:extLst>
              <a:ext uri="{FF2B5EF4-FFF2-40B4-BE49-F238E27FC236}">
                <a16:creationId xmlns:a16="http://schemas.microsoft.com/office/drawing/2014/main" id="{3236B2D5-5563-D03C-E96D-80D4D792B09F}"/>
              </a:ext>
            </a:extLst>
          </p:cNvPr>
          <p:cNvSpPr txBox="1"/>
          <p:nvPr/>
        </p:nvSpPr>
        <p:spPr>
          <a:xfrm>
            <a:off x="6781800" y="2565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Overview refreshes every 3 s from GET /api/slots.</a:t>
            </a:r>
            <a:endParaRPr lang="de-DE" sz="1250">
              <a:solidFill>
                <a:srgbClr val="DFE6E1"/>
              </a:solidFill>
              <a:latin typeface="Segoe UI" panose="020B0502040204020203" pitchFamily="34" charset="0"/>
            </a:endParaRPr>
          </a:p>
        </p:txBody>
      </p:sp>
      <p:sp>
        <p:nvSpPr>
          <p:cNvPr id="24" name="Textfeld 23">
            <a:extLst>
              <a:ext uri="{FF2B5EF4-FFF2-40B4-BE49-F238E27FC236}">
                <a16:creationId xmlns:a16="http://schemas.microsoft.com/office/drawing/2014/main" id="{73761059-7C48-573C-EE15-3E7DB01C8174}"/>
              </a:ext>
            </a:extLst>
          </p:cNvPr>
          <p:cNvSpPr txBox="1"/>
          <p:nvPr/>
        </p:nvSpPr>
        <p:spPr>
          <a:xfrm>
            <a:off x="6502400" y="3200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5" name="Textfeld 24">
            <a:extLst>
              <a:ext uri="{FF2B5EF4-FFF2-40B4-BE49-F238E27FC236}">
                <a16:creationId xmlns:a16="http://schemas.microsoft.com/office/drawing/2014/main" id="{E248A65E-E4F9-1850-9183-0807059A3D07}"/>
              </a:ext>
            </a:extLst>
          </p:cNvPr>
          <p:cNvSpPr txBox="1"/>
          <p:nvPr/>
        </p:nvSpPr>
        <p:spPr>
          <a:xfrm>
            <a:off x="6781800" y="3200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POST /api/boxes/1/book (JWT) – only if the station is online and the user has no other box.</a:t>
            </a:r>
            <a:endParaRPr lang="de-DE" sz="1250">
              <a:solidFill>
                <a:srgbClr val="DFE6E1"/>
              </a:solidFill>
              <a:latin typeface="Segoe UI" panose="020B0502040204020203" pitchFamily="34" charset="0"/>
            </a:endParaRPr>
          </a:p>
        </p:txBody>
      </p:sp>
      <p:sp>
        <p:nvSpPr>
          <p:cNvPr id="26" name="Textfeld 25">
            <a:extLst>
              <a:ext uri="{FF2B5EF4-FFF2-40B4-BE49-F238E27FC236}">
                <a16:creationId xmlns:a16="http://schemas.microsoft.com/office/drawing/2014/main" id="{8229A892-089A-8F69-9455-82F5EB85734F}"/>
              </a:ext>
            </a:extLst>
          </p:cNvPr>
          <p:cNvSpPr txBox="1"/>
          <p:nvPr/>
        </p:nvSpPr>
        <p:spPr>
          <a:xfrm>
            <a:off x="6502400" y="3835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7" name="Textfeld 26">
            <a:extLst>
              <a:ext uri="{FF2B5EF4-FFF2-40B4-BE49-F238E27FC236}">
                <a16:creationId xmlns:a16="http://schemas.microsoft.com/office/drawing/2014/main" id="{F492437C-B2BC-8461-062E-CA53B3DFC5A5}"/>
              </a:ext>
            </a:extLst>
          </p:cNvPr>
          <p:cNvSpPr txBox="1"/>
          <p:nvPr/>
        </p:nvSpPr>
        <p:spPr>
          <a:xfrm>
            <a:off x="6781800" y="3835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Box state: Free → OpenForParking, a BoxEvent "Booked" is logged.</a:t>
            </a:r>
            <a:endParaRPr lang="de-DE" sz="1250">
              <a:solidFill>
                <a:srgbClr val="DFE6E1"/>
              </a:solidFill>
              <a:latin typeface="Segoe UI" panose="020B0502040204020203" pitchFamily="34" charset="0"/>
            </a:endParaRPr>
          </a:p>
        </p:txBody>
      </p:sp>
      <p:sp>
        <p:nvSpPr>
          <p:cNvPr id="28" name="Textfeld 27">
            <a:extLst>
              <a:ext uri="{FF2B5EF4-FFF2-40B4-BE49-F238E27FC236}">
                <a16:creationId xmlns:a16="http://schemas.microsoft.com/office/drawing/2014/main" id="{2AB9CFCD-4F58-332C-DAF3-4FB163CFC7D2}"/>
              </a:ext>
            </a:extLst>
          </p:cNvPr>
          <p:cNvSpPr txBox="1"/>
          <p:nvPr/>
        </p:nvSpPr>
        <p:spPr>
          <a:xfrm>
            <a:off x="6502400" y="4470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9" name="Textfeld 28">
            <a:extLst>
              <a:ext uri="{FF2B5EF4-FFF2-40B4-BE49-F238E27FC236}">
                <a16:creationId xmlns:a16="http://schemas.microsoft.com/office/drawing/2014/main" id="{832EA85D-0D38-4F88-FE96-481A5950D256}"/>
              </a:ext>
            </a:extLst>
          </p:cNvPr>
          <p:cNvSpPr txBox="1"/>
          <p:nvPr/>
        </p:nvSpPr>
        <p:spPr>
          <a:xfrm>
            <a:off x="6781800" y="4470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The Pi's next reading gets lockOpen: true – servo turns to 90°.</a:t>
            </a:r>
            <a:endParaRPr lang="de-DE" sz="1250">
              <a:solidFill>
                <a:srgbClr val="DFE6E1"/>
              </a:solidFill>
              <a:latin typeface="Segoe UI" panose="020B0502040204020203" pitchFamily="34" charset="0"/>
            </a:endParaRPr>
          </a:p>
        </p:txBody>
      </p:sp>
      <p:sp>
        <p:nvSpPr>
          <p:cNvPr id="30" name="Textfeld 29">
            <a:extLst>
              <a:ext uri="{FF2B5EF4-FFF2-40B4-BE49-F238E27FC236}">
                <a16:creationId xmlns:a16="http://schemas.microsoft.com/office/drawing/2014/main" id="{D4E40BE2-D219-0F00-C20A-BA7F63D40643}"/>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31" name="Textfeld 30">
            <a:extLst>
              <a:ext uri="{FF2B5EF4-FFF2-40B4-BE49-F238E27FC236}">
                <a16:creationId xmlns:a16="http://schemas.microsoft.com/office/drawing/2014/main" id="{E9DD07AA-7ED5-6ECF-2D1F-E248A556E77A}"/>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4</a:t>
            </a:r>
          </a:p>
        </p:txBody>
      </p:sp>
    </p:spTree>
    <p:extLst>
      <p:ext uri="{BB962C8B-B14F-4D97-AF65-F5344CB8AC3E}">
        <p14:creationId xmlns:p14="http://schemas.microsoft.com/office/powerpoint/2010/main" val="264716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B9F5C06F-3703-2056-CFEF-86D043C6BF96}"/>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13C8C05F-3C13-CC93-69FC-2724702F1D19}"/>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STEP 3</a:t>
            </a:r>
          </a:p>
        </p:txBody>
      </p:sp>
      <p:sp>
        <p:nvSpPr>
          <p:cNvPr id="4" name="Textfeld 3">
            <a:extLst>
              <a:ext uri="{FF2B5EF4-FFF2-40B4-BE49-F238E27FC236}">
                <a16:creationId xmlns:a16="http://schemas.microsoft.com/office/drawing/2014/main" id="{5D773744-AA34-7278-AF90-B8602383FC19}"/>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en-US" sz="3000">
                <a:solidFill>
                  <a:srgbClr val="202A27"/>
                </a:solidFill>
                <a:latin typeface="Segoe UI Semibold" panose="020B0702040204020203" pitchFamily="34" charset="0"/>
              </a:rPr>
              <a:t>Park – the box locks itself</a:t>
            </a:r>
            <a:endParaRPr lang="de-DE" sz="3000">
              <a:solidFill>
                <a:srgbClr val="202A27"/>
              </a:solidFill>
              <a:latin typeface="Segoe UI Semibold" panose="020B0702040204020203" pitchFamily="34" charset="0"/>
            </a:endParaRPr>
          </a:p>
        </p:txBody>
      </p:sp>
      <p:sp>
        <p:nvSpPr>
          <p:cNvPr id="5" name="Textfeld 4">
            <a:extLst>
              <a:ext uri="{FF2B5EF4-FFF2-40B4-BE49-F238E27FC236}">
                <a16:creationId xmlns:a16="http://schemas.microsoft.com/office/drawing/2014/main" id="{ED97C5DA-0D9A-AAD4-C941-D0D59CFEE2BB}"/>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Detection is debounced so a hand or a single bad reading never locks the box.</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22A613DC-2E4D-E8EC-9044-123B1A5B97CC}"/>
              </a:ext>
            </a:extLst>
          </p:cNvPr>
          <p:cNvSpPr/>
          <p:nvPr/>
        </p:nvSpPr>
        <p:spPr>
          <a:xfrm>
            <a:off x="609600" y="2032000"/>
            <a:ext cx="5334000" cy="3810000"/>
          </a:xfrm>
          <a:prstGeom prst="roundRect">
            <a:avLst>
              <a:gd name="adj" fmla="val 333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CFA1C13A-4505-ACF4-4F29-020DB9CEB4A8}"/>
              </a:ext>
            </a:extLst>
          </p:cNvPr>
          <p:cNvSpPr txBox="1"/>
          <p:nvPr/>
        </p:nvSpPr>
        <p:spPr>
          <a:xfrm>
            <a:off x="889000" y="2235200"/>
            <a:ext cx="4826000" cy="369332"/>
          </a:xfrm>
          <a:prstGeom prst="rect">
            <a:avLst/>
          </a:prstGeom>
          <a:noFill/>
        </p:spPr>
        <p:txBody>
          <a:bodyPr vert="horz" wrap="square" lIns="0" tIns="0" rIns="0" bIns="0" rtlCol="0">
            <a:noAutofit/>
          </a:bodyPr>
          <a:lstStyle/>
          <a:p>
            <a:pPr>
              <a:lnSpc>
                <a:spcPct val="110000"/>
              </a:lnSpc>
            </a:pPr>
            <a:r>
              <a:rPr lang="de-DE" sz="1000" b="1">
                <a:solidFill>
                  <a:srgbClr val="5D6660"/>
                </a:solidFill>
                <a:latin typeface="Segoe UI Semibold" panose="020B0702040204020203" pitchFamily="34" charset="0"/>
              </a:rPr>
              <a:t>WHAT THE CYCLIST DOES</a:t>
            </a:r>
          </a:p>
        </p:txBody>
      </p:sp>
      <p:sp>
        <p:nvSpPr>
          <p:cNvPr id="8" name="Ellipse 7">
            <a:extLst>
              <a:ext uri="{FF2B5EF4-FFF2-40B4-BE49-F238E27FC236}">
                <a16:creationId xmlns:a16="http://schemas.microsoft.com/office/drawing/2014/main" id="{3192FF32-0C6C-06DC-28FE-B472AB0755C7}"/>
              </a:ext>
            </a:extLst>
          </p:cNvPr>
          <p:cNvSpPr/>
          <p:nvPr/>
        </p:nvSpPr>
        <p:spPr>
          <a:xfrm>
            <a:off x="889000" y="26289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26AA31BD-CD27-2907-F3A4-0240160EC0D6}"/>
              </a:ext>
            </a:extLst>
          </p:cNvPr>
          <p:cNvSpPr txBox="1"/>
          <p:nvPr/>
        </p:nvSpPr>
        <p:spPr>
          <a:xfrm>
            <a:off x="1117600" y="25654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Pushes the bike into the box.</a:t>
            </a:r>
            <a:endParaRPr lang="de-DE" sz="1300">
              <a:solidFill>
                <a:srgbClr val="202A27"/>
              </a:solidFill>
              <a:latin typeface="Segoe UI" panose="020B0502040204020203" pitchFamily="34" charset="0"/>
            </a:endParaRPr>
          </a:p>
        </p:txBody>
      </p:sp>
      <p:sp>
        <p:nvSpPr>
          <p:cNvPr id="10" name="Ellipse 9">
            <a:extLst>
              <a:ext uri="{FF2B5EF4-FFF2-40B4-BE49-F238E27FC236}">
                <a16:creationId xmlns:a16="http://schemas.microsoft.com/office/drawing/2014/main" id="{66C5573E-6505-DA4A-B500-89FF65581B9C}"/>
              </a:ext>
            </a:extLst>
          </p:cNvPr>
          <p:cNvSpPr/>
          <p:nvPr/>
        </p:nvSpPr>
        <p:spPr>
          <a:xfrm>
            <a:off x="889000" y="31877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A3994A0-5269-34F6-EC32-D24E5ACC917C}"/>
              </a:ext>
            </a:extLst>
          </p:cNvPr>
          <p:cNvSpPr txBox="1"/>
          <p:nvPr/>
        </p:nvSpPr>
        <p:spPr>
          <a:xfrm>
            <a:off x="1117600" y="31242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Waits a moment – nothing else to do.</a:t>
            </a:r>
            <a:endParaRPr lang="de-DE" sz="1300">
              <a:solidFill>
                <a:srgbClr val="202A27"/>
              </a:solidFill>
              <a:latin typeface="Segoe UI" panose="020B0502040204020203" pitchFamily="34" charset="0"/>
            </a:endParaRPr>
          </a:p>
        </p:txBody>
      </p:sp>
      <p:sp>
        <p:nvSpPr>
          <p:cNvPr id="12" name="Ellipse 11">
            <a:extLst>
              <a:ext uri="{FF2B5EF4-FFF2-40B4-BE49-F238E27FC236}">
                <a16:creationId xmlns:a16="http://schemas.microsoft.com/office/drawing/2014/main" id="{9108F81F-6214-903E-444D-57A548C7F230}"/>
              </a:ext>
            </a:extLst>
          </p:cNvPr>
          <p:cNvSpPr/>
          <p:nvPr/>
        </p:nvSpPr>
        <p:spPr>
          <a:xfrm>
            <a:off x="889000" y="37465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E3780EE4-DBC2-6835-71BD-7A87CCDF4FAB}"/>
              </a:ext>
            </a:extLst>
          </p:cNvPr>
          <p:cNvSpPr txBox="1"/>
          <p:nvPr/>
        </p:nvSpPr>
        <p:spPr>
          <a:xfrm>
            <a:off x="1117600" y="36830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Sees "Your bike is safely locked" on their phone.</a:t>
            </a:r>
            <a:endParaRPr lang="de-DE" sz="1300">
              <a:solidFill>
                <a:srgbClr val="202A27"/>
              </a:solidFill>
              <a:latin typeface="Segoe UI" panose="020B0502040204020203" pitchFamily="34" charset="0"/>
            </a:endParaRPr>
          </a:p>
        </p:txBody>
      </p:sp>
      <p:sp>
        <p:nvSpPr>
          <p:cNvPr id="14" name="Ellipse 13">
            <a:extLst>
              <a:ext uri="{FF2B5EF4-FFF2-40B4-BE49-F238E27FC236}">
                <a16:creationId xmlns:a16="http://schemas.microsoft.com/office/drawing/2014/main" id="{B339E128-E5A0-A473-D481-561057FB34F8}"/>
              </a:ext>
            </a:extLst>
          </p:cNvPr>
          <p:cNvSpPr/>
          <p:nvPr/>
        </p:nvSpPr>
        <p:spPr>
          <a:xfrm>
            <a:off x="889000" y="43053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D15741DF-4313-F6D0-69DF-31125A755B7B}"/>
              </a:ext>
            </a:extLst>
          </p:cNvPr>
          <p:cNvSpPr txBox="1"/>
          <p:nvPr/>
        </p:nvSpPr>
        <p:spPr>
          <a:xfrm>
            <a:off x="1117600" y="42418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Green LED on the station goes off.</a:t>
            </a:r>
            <a:endParaRPr lang="de-DE" sz="1300">
              <a:solidFill>
                <a:srgbClr val="202A27"/>
              </a:solidFill>
              <a:latin typeface="Segoe UI" panose="020B0502040204020203" pitchFamily="34" charset="0"/>
            </a:endParaRPr>
          </a:p>
        </p:txBody>
      </p:sp>
      <p:sp>
        <p:nvSpPr>
          <p:cNvPr id="16" name="Rechteck: abgerundete Ecken 15">
            <a:extLst>
              <a:ext uri="{FF2B5EF4-FFF2-40B4-BE49-F238E27FC236}">
                <a16:creationId xmlns:a16="http://schemas.microsoft.com/office/drawing/2014/main" id="{4796E212-7AEA-EBC8-EE24-3E1C1D7AF8B6}"/>
              </a:ext>
            </a:extLst>
          </p:cNvPr>
          <p:cNvSpPr/>
          <p:nvPr/>
        </p:nvSpPr>
        <p:spPr>
          <a:xfrm>
            <a:off x="889000" y="4851400"/>
            <a:ext cx="4775200" cy="787400"/>
          </a:xfrm>
          <a:prstGeom prst="roundRect">
            <a:avLst>
              <a:gd name="adj" fmla="val 16129"/>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6">
            <a:extLst>
              <a:ext uri="{FF2B5EF4-FFF2-40B4-BE49-F238E27FC236}">
                <a16:creationId xmlns:a16="http://schemas.microsoft.com/office/drawing/2014/main" id="{FC390147-ED57-E543-3014-ADFF02664953}"/>
              </a:ext>
            </a:extLst>
          </p:cNvPr>
          <p:cNvSpPr txBox="1"/>
          <p:nvPr/>
        </p:nvSpPr>
        <p:spPr>
          <a:xfrm>
            <a:off x="1117600" y="4978400"/>
            <a:ext cx="292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Locked</a:t>
            </a:r>
          </a:p>
        </p:txBody>
      </p:sp>
      <p:sp>
        <p:nvSpPr>
          <p:cNvPr id="18" name="Textfeld 17">
            <a:extLst>
              <a:ext uri="{FF2B5EF4-FFF2-40B4-BE49-F238E27FC236}">
                <a16:creationId xmlns:a16="http://schemas.microsoft.com/office/drawing/2014/main" id="{FD70D100-3A2F-5628-6191-A074506C8A91}"/>
              </a:ext>
            </a:extLst>
          </p:cNvPr>
          <p:cNvSpPr txBox="1"/>
          <p:nvPr/>
        </p:nvSpPr>
        <p:spPr>
          <a:xfrm>
            <a:off x="1117600" y="5283200"/>
            <a:ext cx="2921000" cy="369332"/>
          </a:xfrm>
          <a:prstGeom prst="rect">
            <a:avLst/>
          </a:prstGeom>
          <a:noFill/>
        </p:spPr>
        <p:txBody>
          <a:bodyPr vert="horz" wrap="square" lIns="0" tIns="0" rIns="0" bIns="0" rtlCol="0">
            <a:noAutofit/>
          </a:bodyPr>
          <a:lstStyle/>
          <a:p>
            <a:pPr>
              <a:lnSpc>
                <a:spcPct val="110000"/>
              </a:lnSpc>
            </a:pPr>
            <a:r>
              <a:rPr lang="de-DE" sz="1050">
                <a:solidFill>
                  <a:srgbClr val="3F4943"/>
                </a:solidFill>
                <a:latin typeface="Segoe UI" panose="020B0502040204020203" pitchFamily="34" charset="0"/>
              </a:rPr>
              <a:t>Your bike is safe</a:t>
            </a:r>
          </a:p>
        </p:txBody>
      </p:sp>
      <p:sp>
        <p:nvSpPr>
          <p:cNvPr id="19" name="Rechteck: abgerundete Ecken 18">
            <a:extLst>
              <a:ext uri="{FF2B5EF4-FFF2-40B4-BE49-F238E27FC236}">
                <a16:creationId xmlns:a16="http://schemas.microsoft.com/office/drawing/2014/main" id="{545DCE8B-83F1-79C7-D3E1-65E493C27CDB}"/>
              </a:ext>
            </a:extLst>
          </p:cNvPr>
          <p:cNvSpPr/>
          <p:nvPr/>
        </p:nvSpPr>
        <p:spPr>
          <a:xfrm>
            <a:off x="4140200" y="5054600"/>
            <a:ext cx="1371600" cy="381000"/>
          </a:xfrm>
          <a:prstGeom prst="roundRect">
            <a:avLst>
              <a:gd name="adj" fmla="val 50000"/>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solidFill>
                  <a:srgbClr val="FFFFFF"/>
                </a:solidFill>
                <a:latin typeface="Segoe UI Semibold" panose="020B0702040204020203" pitchFamily="34" charset="0"/>
              </a:rPr>
              <a:t>Pick up</a:t>
            </a:r>
          </a:p>
        </p:txBody>
      </p:sp>
      <p:sp>
        <p:nvSpPr>
          <p:cNvPr id="20" name="Rechteck: abgerundete Ecken 19">
            <a:extLst>
              <a:ext uri="{FF2B5EF4-FFF2-40B4-BE49-F238E27FC236}">
                <a16:creationId xmlns:a16="http://schemas.microsoft.com/office/drawing/2014/main" id="{FA6DDBFC-B1D7-30A4-9971-34B28E71763A}"/>
              </a:ext>
            </a:extLst>
          </p:cNvPr>
          <p:cNvSpPr/>
          <p:nvPr/>
        </p:nvSpPr>
        <p:spPr>
          <a:xfrm>
            <a:off x="6223000" y="2032000"/>
            <a:ext cx="5359400" cy="3810000"/>
          </a:xfrm>
          <a:prstGeom prst="roundRect">
            <a:avLst>
              <a:gd name="adj" fmla="val 3333"/>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Textfeld 20">
            <a:extLst>
              <a:ext uri="{FF2B5EF4-FFF2-40B4-BE49-F238E27FC236}">
                <a16:creationId xmlns:a16="http://schemas.microsoft.com/office/drawing/2014/main" id="{9A01CDA5-7E01-D452-07B6-99AFF29F07B9}"/>
              </a:ext>
            </a:extLst>
          </p:cNvPr>
          <p:cNvSpPr txBox="1"/>
          <p:nvPr/>
        </p:nvSpPr>
        <p:spPr>
          <a:xfrm>
            <a:off x="6502400" y="2235200"/>
            <a:ext cx="4826000" cy="369332"/>
          </a:xfrm>
          <a:prstGeom prst="rect">
            <a:avLst/>
          </a:prstGeom>
          <a:noFill/>
        </p:spPr>
        <p:txBody>
          <a:bodyPr vert="horz" wrap="square" lIns="0" tIns="0" rIns="0" bIns="0" rtlCol="0">
            <a:noAutofit/>
          </a:bodyPr>
          <a:lstStyle/>
          <a:p>
            <a:pPr>
              <a:lnSpc>
                <a:spcPct val="110000"/>
              </a:lnSpc>
            </a:pPr>
            <a:r>
              <a:rPr lang="de-DE" sz="1000" b="1">
                <a:solidFill>
                  <a:srgbClr val="9FB0A7"/>
                </a:solidFill>
                <a:latin typeface="Segoe UI Semibold" panose="020B0702040204020203" pitchFamily="34" charset="0"/>
              </a:rPr>
              <a:t>BEHIND THE SCENES</a:t>
            </a:r>
          </a:p>
        </p:txBody>
      </p:sp>
      <p:sp>
        <p:nvSpPr>
          <p:cNvPr id="22" name="Textfeld 21">
            <a:extLst>
              <a:ext uri="{FF2B5EF4-FFF2-40B4-BE49-F238E27FC236}">
                <a16:creationId xmlns:a16="http://schemas.microsoft.com/office/drawing/2014/main" id="{69379347-CC8E-BA45-31C4-3B91EBCA70EF}"/>
              </a:ext>
            </a:extLst>
          </p:cNvPr>
          <p:cNvSpPr txBox="1"/>
          <p:nvPr/>
        </p:nvSpPr>
        <p:spPr>
          <a:xfrm>
            <a:off x="6502400" y="2565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3" name="Textfeld 22">
            <a:extLst>
              <a:ext uri="{FF2B5EF4-FFF2-40B4-BE49-F238E27FC236}">
                <a16:creationId xmlns:a16="http://schemas.microsoft.com/office/drawing/2014/main" id="{8E37C71B-28D7-35B9-F330-F3F6F22272A8}"/>
              </a:ext>
            </a:extLst>
          </p:cNvPr>
          <p:cNvSpPr txBox="1"/>
          <p:nvPr/>
        </p:nvSpPr>
        <p:spPr>
          <a:xfrm>
            <a:off x="6781800" y="2565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Pi measures distance every second (HC-SR04) and POSTs it.</a:t>
            </a:r>
            <a:endParaRPr lang="de-DE" sz="1250">
              <a:solidFill>
                <a:srgbClr val="DFE6E1"/>
              </a:solidFill>
              <a:latin typeface="Segoe UI" panose="020B0502040204020203" pitchFamily="34" charset="0"/>
            </a:endParaRPr>
          </a:p>
        </p:txBody>
      </p:sp>
      <p:sp>
        <p:nvSpPr>
          <p:cNvPr id="24" name="Textfeld 23">
            <a:extLst>
              <a:ext uri="{FF2B5EF4-FFF2-40B4-BE49-F238E27FC236}">
                <a16:creationId xmlns:a16="http://schemas.microsoft.com/office/drawing/2014/main" id="{4373E6E4-A4D9-5EFD-4C7E-B3F6F95B3C82}"/>
              </a:ext>
            </a:extLst>
          </p:cNvPr>
          <p:cNvSpPr txBox="1"/>
          <p:nvPr/>
        </p:nvSpPr>
        <p:spPr>
          <a:xfrm>
            <a:off x="6502400" y="3200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5" name="Textfeld 24">
            <a:extLst>
              <a:ext uri="{FF2B5EF4-FFF2-40B4-BE49-F238E27FC236}">
                <a16:creationId xmlns:a16="http://schemas.microsoft.com/office/drawing/2014/main" id="{0EE840D0-DF50-EE5E-D963-379B07CA7BFC}"/>
              </a:ext>
            </a:extLst>
          </p:cNvPr>
          <p:cNvSpPr txBox="1"/>
          <p:nvPr/>
        </p:nvSpPr>
        <p:spPr>
          <a:xfrm>
            <a:off x="6781800" y="3200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Bike ≤ 7 cm for 5 s → OpenForParking → Locked.</a:t>
            </a:r>
            <a:endParaRPr lang="de-DE" sz="1250">
              <a:solidFill>
                <a:srgbClr val="DFE6E1"/>
              </a:solidFill>
              <a:latin typeface="Segoe UI" panose="020B0502040204020203" pitchFamily="34" charset="0"/>
            </a:endParaRPr>
          </a:p>
        </p:txBody>
      </p:sp>
      <p:sp>
        <p:nvSpPr>
          <p:cNvPr id="26" name="Textfeld 25">
            <a:extLst>
              <a:ext uri="{FF2B5EF4-FFF2-40B4-BE49-F238E27FC236}">
                <a16:creationId xmlns:a16="http://schemas.microsoft.com/office/drawing/2014/main" id="{DA7DBF0F-5919-E94F-ED1B-C2131DC90197}"/>
              </a:ext>
            </a:extLst>
          </p:cNvPr>
          <p:cNvSpPr txBox="1"/>
          <p:nvPr/>
        </p:nvSpPr>
        <p:spPr>
          <a:xfrm>
            <a:off x="6502400" y="3835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7" name="Textfeld 26">
            <a:extLst>
              <a:ext uri="{FF2B5EF4-FFF2-40B4-BE49-F238E27FC236}">
                <a16:creationId xmlns:a16="http://schemas.microsoft.com/office/drawing/2014/main" id="{0F170618-22AB-18FE-048D-82EE9759255B}"/>
              </a:ext>
            </a:extLst>
          </p:cNvPr>
          <p:cNvSpPr txBox="1"/>
          <p:nvPr/>
        </p:nvSpPr>
        <p:spPr>
          <a:xfrm>
            <a:off x="6781800" y="3835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Answer lockOpen: false – servo moves in 10 soft steps to 45°.</a:t>
            </a:r>
            <a:endParaRPr lang="de-DE" sz="1250">
              <a:solidFill>
                <a:srgbClr val="DFE6E1"/>
              </a:solidFill>
              <a:latin typeface="Segoe UI" panose="020B0502040204020203" pitchFamily="34" charset="0"/>
            </a:endParaRPr>
          </a:p>
        </p:txBody>
      </p:sp>
      <p:sp>
        <p:nvSpPr>
          <p:cNvPr id="28" name="Textfeld 27">
            <a:extLst>
              <a:ext uri="{FF2B5EF4-FFF2-40B4-BE49-F238E27FC236}">
                <a16:creationId xmlns:a16="http://schemas.microsoft.com/office/drawing/2014/main" id="{97B71F57-B07F-0C8A-E3FE-3846E81D2769}"/>
              </a:ext>
            </a:extLst>
          </p:cNvPr>
          <p:cNvSpPr txBox="1"/>
          <p:nvPr/>
        </p:nvSpPr>
        <p:spPr>
          <a:xfrm>
            <a:off x="6502400" y="4470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9" name="Textfeld 28">
            <a:extLst>
              <a:ext uri="{FF2B5EF4-FFF2-40B4-BE49-F238E27FC236}">
                <a16:creationId xmlns:a16="http://schemas.microsoft.com/office/drawing/2014/main" id="{96BACBCA-A506-02A9-0EAC-66E471F53E11}"/>
              </a:ext>
            </a:extLst>
          </p:cNvPr>
          <p:cNvSpPr txBox="1"/>
          <p:nvPr/>
        </p:nvSpPr>
        <p:spPr>
          <a:xfrm>
            <a:off x="6781800" y="4470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If no bike arrives within 120 s the booking is released.</a:t>
            </a:r>
            <a:endParaRPr lang="de-DE" sz="1250">
              <a:solidFill>
                <a:srgbClr val="DFE6E1"/>
              </a:solidFill>
              <a:latin typeface="Segoe UI" panose="020B0502040204020203" pitchFamily="34" charset="0"/>
            </a:endParaRPr>
          </a:p>
        </p:txBody>
      </p:sp>
      <p:sp>
        <p:nvSpPr>
          <p:cNvPr id="30" name="Textfeld 29">
            <a:extLst>
              <a:ext uri="{FF2B5EF4-FFF2-40B4-BE49-F238E27FC236}">
                <a16:creationId xmlns:a16="http://schemas.microsoft.com/office/drawing/2014/main" id="{D863438B-3F0C-D396-A0CF-76EA0ADE0E2A}"/>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31" name="Textfeld 30">
            <a:extLst>
              <a:ext uri="{FF2B5EF4-FFF2-40B4-BE49-F238E27FC236}">
                <a16:creationId xmlns:a16="http://schemas.microsoft.com/office/drawing/2014/main" id="{08B31D66-D3C3-786C-10A9-657A59BAE983}"/>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5</a:t>
            </a:r>
          </a:p>
        </p:txBody>
      </p:sp>
    </p:spTree>
    <p:extLst>
      <p:ext uri="{BB962C8B-B14F-4D97-AF65-F5344CB8AC3E}">
        <p14:creationId xmlns:p14="http://schemas.microsoft.com/office/powerpoint/2010/main" val="4164895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0DCB1D11-6645-3B0D-039C-BAFC2D0F9473}"/>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B6570978-6C58-5B4E-F1B9-38F68B6454A1}"/>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STEP 4 + 5</a:t>
            </a:r>
          </a:p>
        </p:txBody>
      </p:sp>
      <p:sp>
        <p:nvSpPr>
          <p:cNvPr id="4" name="Textfeld 3">
            <a:extLst>
              <a:ext uri="{FF2B5EF4-FFF2-40B4-BE49-F238E27FC236}">
                <a16:creationId xmlns:a16="http://schemas.microsoft.com/office/drawing/2014/main" id="{6195B7C0-BBD2-039C-96DF-A36A44315B41}"/>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de-DE" sz="3000">
                <a:solidFill>
                  <a:srgbClr val="202A27"/>
                </a:solidFill>
                <a:latin typeface="Segoe UI Semibold" panose="020B0702040204020203" pitchFamily="34" charset="0"/>
              </a:rPr>
              <a:t>Pick up and leave</a:t>
            </a:r>
          </a:p>
        </p:txBody>
      </p:sp>
      <p:sp>
        <p:nvSpPr>
          <p:cNvPr id="5" name="Textfeld 4">
            <a:extLst>
              <a:ext uri="{FF2B5EF4-FFF2-40B4-BE49-F238E27FC236}">
                <a16:creationId xmlns:a16="http://schemas.microsoft.com/office/drawing/2014/main" id="{CA26762A-352D-F140-9DBB-974430609924}"/>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The box only opens for its owner – and closes again by itself.</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D14A015E-B828-A191-6711-C1B97D9093CD}"/>
              </a:ext>
            </a:extLst>
          </p:cNvPr>
          <p:cNvSpPr/>
          <p:nvPr/>
        </p:nvSpPr>
        <p:spPr>
          <a:xfrm>
            <a:off x="609600" y="2032000"/>
            <a:ext cx="5334000" cy="3810000"/>
          </a:xfrm>
          <a:prstGeom prst="roundRect">
            <a:avLst>
              <a:gd name="adj" fmla="val 333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08BAAC36-5DC9-4830-CB97-06424D8CB1F9}"/>
              </a:ext>
            </a:extLst>
          </p:cNvPr>
          <p:cNvSpPr txBox="1"/>
          <p:nvPr/>
        </p:nvSpPr>
        <p:spPr>
          <a:xfrm>
            <a:off x="889000" y="2235200"/>
            <a:ext cx="4826000" cy="369332"/>
          </a:xfrm>
          <a:prstGeom prst="rect">
            <a:avLst/>
          </a:prstGeom>
          <a:noFill/>
        </p:spPr>
        <p:txBody>
          <a:bodyPr vert="horz" wrap="square" lIns="0" tIns="0" rIns="0" bIns="0" rtlCol="0">
            <a:noAutofit/>
          </a:bodyPr>
          <a:lstStyle/>
          <a:p>
            <a:pPr>
              <a:lnSpc>
                <a:spcPct val="110000"/>
              </a:lnSpc>
            </a:pPr>
            <a:r>
              <a:rPr lang="de-DE" sz="1000" b="1">
                <a:solidFill>
                  <a:srgbClr val="5D6660"/>
                </a:solidFill>
                <a:latin typeface="Segoe UI Semibold" panose="020B0702040204020203" pitchFamily="34" charset="0"/>
              </a:rPr>
              <a:t>WHAT THE CYCLIST DOES</a:t>
            </a:r>
          </a:p>
        </p:txBody>
      </p:sp>
      <p:sp>
        <p:nvSpPr>
          <p:cNvPr id="8" name="Ellipse 7">
            <a:extLst>
              <a:ext uri="{FF2B5EF4-FFF2-40B4-BE49-F238E27FC236}">
                <a16:creationId xmlns:a16="http://schemas.microsoft.com/office/drawing/2014/main" id="{0B41E6E3-046E-D8B3-30F4-5EF7185721F2}"/>
              </a:ext>
            </a:extLst>
          </p:cNvPr>
          <p:cNvSpPr/>
          <p:nvPr/>
        </p:nvSpPr>
        <p:spPr>
          <a:xfrm>
            <a:off x="889000" y="26289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1AFFFD18-01AA-EB88-208E-A51365CC55A0}"/>
              </a:ext>
            </a:extLst>
          </p:cNvPr>
          <p:cNvSpPr txBox="1"/>
          <p:nvPr/>
        </p:nvSpPr>
        <p:spPr>
          <a:xfrm>
            <a:off x="1117600" y="25654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Taps "Pick up" in the app.</a:t>
            </a:r>
            <a:endParaRPr lang="de-DE" sz="1300">
              <a:solidFill>
                <a:srgbClr val="202A27"/>
              </a:solidFill>
              <a:latin typeface="Segoe UI" panose="020B0502040204020203" pitchFamily="34" charset="0"/>
            </a:endParaRPr>
          </a:p>
        </p:txBody>
      </p:sp>
      <p:sp>
        <p:nvSpPr>
          <p:cNvPr id="10" name="Ellipse 9">
            <a:extLst>
              <a:ext uri="{FF2B5EF4-FFF2-40B4-BE49-F238E27FC236}">
                <a16:creationId xmlns:a16="http://schemas.microsoft.com/office/drawing/2014/main" id="{3D46EDEC-25DD-6385-FD74-72479DBE061B}"/>
              </a:ext>
            </a:extLst>
          </p:cNvPr>
          <p:cNvSpPr/>
          <p:nvPr/>
        </p:nvSpPr>
        <p:spPr>
          <a:xfrm>
            <a:off x="889000" y="31877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72E38A50-EC07-F0E2-34F5-06C3C2B520A1}"/>
              </a:ext>
            </a:extLst>
          </p:cNvPr>
          <p:cNvSpPr txBox="1"/>
          <p:nvPr/>
        </p:nvSpPr>
        <p:spPr>
          <a:xfrm>
            <a:off x="1117600" y="31242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The box opens, the bike comes out.</a:t>
            </a:r>
            <a:endParaRPr lang="de-DE" sz="1300">
              <a:solidFill>
                <a:srgbClr val="202A27"/>
              </a:solidFill>
              <a:latin typeface="Segoe UI" panose="020B0502040204020203" pitchFamily="34" charset="0"/>
            </a:endParaRPr>
          </a:p>
        </p:txBody>
      </p:sp>
      <p:sp>
        <p:nvSpPr>
          <p:cNvPr id="12" name="Ellipse 11">
            <a:extLst>
              <a:ext uri="{FF2B5EF4-FFF2-40B4-BE49-F238E27FC236}">
                <a16:creationId xmlns:a16="http://schemas.microsoft.com/office/drawing/2014/main" id="{1A4BFB15-F90E-9EC4-285A-3BC744BC0F42}"/>
              </a:ext>
            </a:extLst>
          </p:cNvPr>
          <p:cNvSpPr/>
          <p:nvPr/>
        </p:nvSpPr>
        <p:spPr>
          <a:xfrm>
            <a:off x="889000" y="37465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E39706DF-10C8-A761-7F77-DEAD08DC4581}"/>
              </a:ext>
            </a:extLst>
          </p:cNvPr>
          <p:cNvSpPr txBox="1"/>
          <p:nvPr/>
        </p:nvSpPr>
        <p:spPr>
          <a:xfrm>
            <a:off x="1117600" y="36830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Walks away – the box closes and is free for the next person.</a:t>
            </a:r>
            <a:endParaRPr lang="de-DE" sz="1300">
              <a:solidFill>
                <a:srgbClr val="202A27"/>
              </a:solidFill>
              <a:latin typeface="Segoe UI" panose="020B0502040204020203" pitchFamily="34" charset="0"/>
            </a:endParaRPr>
          </a:p>
        </p:txBody>
      </p:sp>
      <p:sp>
        <p:nvSpPr>
          <p:cNvPr id="14" name="Ellipse 13">
            <a:extLst>
              <a:ext uri="{FF2B5EF4-FFF2-40B4-BE49-F238E27FC236}">
                <a16:creationId xmlns:a16="http://schemas.microsoft.com/office/drawing/2014/main" id="{1CBB75CD-638D-9B96-A76C-44FC5DB7AE0B}"/>
              </a:ext>
            </a:extLst>
          </p:cNvPr>
          <p:cNvSpPr/>
          <p:nvPr/>
        </p:nvSpPr>
        <p:spPr>
          <a:xfrm>
            <a:off x="889000" y="4305300"/>
            <a:ext cx="101600" cy="1016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72FE16C2-2D3A-1DF7-C4F3-28128B6CE4D2}"/>
              </a:ext>
            </a:extLst>
          </p:cNvPr>
          <p:cNvSpPr txBox="1"/>
          <p:nvPr/>
        </p:nvSpPr>
        <p:spPr>
          <a:xfrm>
            <a:off x="1117600" y="4241800"/>
            <a:ext cx="4572000" cy="369332"/>
          </a:xfrm>
          <a:prstGeom prst="rect">
            <a:avLst/>
          </a:prstGeom>
          <a:noFill/>
        </p:spPr>
        <p:txBody>
          <a:bodyPr vert="horz" wrap="square" lIns="0" tIns="0" rIns="0" bIns="0" rtlCol="0">
            <a:noAutofit/>
          </a:bodyPr>
          <a:lstStyle/>
          <a:p>
            <a:pPr>
              <a:lnSpc>
                <a:spcPct val="110000"/>
              </a:lnSpc>
            </a:pPr>
            <a:r>
              <a:rPr lang="en-US" sz="1300">
                <a:solidFill>
                  <a:srgbClr val="202A27"/>
                </a:solidFill>
                <a:latin typeface="Segoe UI" panose="020B0502040204020203" pitchFamily="34" charset="0"/>
              </a:rPr>
              <a:t>History shows the completed parking.</a:t>
            </a:r>
            <a:endParaRPr lang="de-DE" sz="1300">
              <a:solidFill>
                <a:srgbClr val="202A27"/>
              </a:solidFill>
              <a:latin typeface="Segoe UI" panose="020B0502040204020203" pitchFamily="34" charset="0"/>
            </a:endParaRPr>
          </a:p>
        </p:txBody>
      </p:sp>
      <p:sp>
        <p:nvSpPr>
          <p:cNvPr id="16" name="Rechteck: abgerundete Ecken 15">
            <a:extLst>
              <a:ext uri="{FF2B5EF4-FFF2-40B4-BE49-F238E27FC236}">
                <a16:creationId xmlns:a16="http://schemas.microsoft.com/office/drawing/2014/main" id="{BE2E045B-0BF9-ACAC-1A2A-D6FF4F80D47B}"/>
              </a:ext>
            </a:extLst>
          </p:cNvPr>
          <p:cNvSpPr/>
          <p:nvPr/>
        </p:nvSpPr>
        <p:spPr>
          <a:xfrm>
            <a:off x="889000" y="4851400"/>
            <a:ext cx="4775200" cy="787400"/>
          </a:xfrm>
          <a:prstGeom prst="roundRect">
            <a:avLst>
              <a:gd name="adj" fmla="val 16129"/>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6">
            <a:extLst>
              <a:ext uri="{FF2B5EF4-FFF2-40B4-BE49-F238E27FC236}">
                <a16:creationId xmlns:a16="http://schemas.microsoft.com/office/drawing/2014/main" id="{77E261D6-6EA7-0C6E-618D-BA167F2C421B}"/>
              </a:ext>
            </a:extLst>
          </p:cNvPr>
          <p:cNvSpPr txBox="1"/>
          <p:nvPr/>
        </p:nvSpPr>
        <p:spPr>
          <a:xfrm>
            <a:off x="1117600" y="4978400"/>
            <a:ext cx="292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Stellplatz 1</a:t>
            </a:r>
          </a:p>
        </p:txBody>
      </p:sp>
      <p:sp>
        <p:nvSpPr>
          <p:cNvPr id="18" name="Textfeld 17">
            <a:extLst>
              <a:ext uri="{FF2B5EF4-FFF2-40B4-BE49-F238E27FC236}">
                <a16:creationId xmlns:a16="http://schemas.microsoft.com/office/drawing/2014/main" id="{E30F8CA5-C729-DCEF-E544-26757CAD1663}"/>
              </a:ext>
            </a:extLst>
          </p:cNvPr>
          <p:cNvSpPr txBox="1"/>
          <p:nvPr/>
        </p:nvSpPr>
        <p:spPr>
          <a:xfrm>
            <a:off x="1117600" y="5283200"/>
            <a:ext cx="2921000" cy="369332"/>
          </a:xfrm>
          <a:prstGeom prst="rect">
            <a:avLst/>
          </a:prstGeom>
          <a:noFill/>
        </p:spPr>
        <p:txBody>
          <a:bodyPr vert="horz" wrap="square" lIns="0" tIns="0" rIns="0" bIns="0" rtlCol="0">
            <a:noAutofit/>
          </a:bodyPr>
          <a:lstStyle/>
          <a:p>
            <a:pPr>
              <a:lnSpc>
                <a:spcPct val="110000"/>
              </a:lnSpc>
            </a:pPr>
            <a:r>
              <a:rPr lang="de-DE" sz="1050">
                <a:solidFill>
                  <a:srgbClr val="3F4943"/>
                </a:solidFill>
                <a:latin typeface="Segoe UI" panose="020B0502040204020203" pitchFamily="34" charset="0"/>
              </a:rPr>
              <a:t>Open for pickup</a:t>
            </a:r>
          </a:p>
        </p:txBody>
      </p:sp>
      <p:sp>
        <p:nvSpPr>
          <p:cNvPr id="19" name="Rechteck: abgerundete Ecken 18">
            <a:extLst>
              <a:ext uri="{FF2B5EF4-FFF2-40B4-BE49-F238E27FC236}">
                <a16:creationId xmlns:a16="http://schemas.microsoft.com/office/drawing/2014/main" id="{77F5BC1A-D376-A352-930C-D9F99E3C1CE6}"/>
              </a:ext>
            </a:extLst>
          </p:cNvPr>
          <p:cNvSpPr/>
          <p:nvPr/>
        </p:nvSpPr>
        <p:spPr>
          <a:xfrm>
            <a:off x="4140200" y="5054600"/>
            <a:ext cx="1371600" cy="381000"/>
          </a:xfrm>
          <a:prstGeom prst="roundRect">
            <a:avLst>
              <a:gd name="adj" fmla="val 50000"/>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solidFill>
                  <a:srgbClr val="FFFFFF"/>
                </a:solidFill>
                <a:latin typeface="Segoe UI Semibold" panose="020B0702040204020203" pitchFamily="34" charset="0"/>
              </a:rPr>
              <a:t>Opening...</a:t>
            </a:r>
          </a:p>
        </p:txBody>
      </p:sp>
      <p:sp>
        <p:nvSpPr>
          <p:cNvPr id="20" name="Rechteck: abgerundete Ecken 19">
            <a:extLst>
              <a:ext uri="{FF2B5EF4-FFF2-40B4-BE49-F238E27FC236}">
                <a16:creationId xmlns:a16="http://schemas.microsoft.com/office/drawing/2014/main" id="{C6DA796C-8CC8-E0A9-EEA9-ED3216E03652}"/>
              </a:ext>
            </a:extLst>
          </p:cNvPr>
          <p:cNvSpPr/>
          <p:nvPr/>
        </p:nvSpPr>
        <p:spPr>
          <a:xfrm>
            <a:off x="6223000" y="2032000"/>
            <a:ext cx="5359400" cy="3810000"/>
          </a:xfrm>
          <a:prstGeom prst="roundRect">
            <a:avLst>
              <a:gd name="adj" fmla="val 3333"/>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Textfeld 20">
            <a:extLst>
              <a:ext uri="{FF2B5EF4-FFF2-40B4-BE49-F238E27FC236}">
                <a16:creationId xmlns:a16="http://schemas.microsoft.com/office/drawing/2014/main" id="{69ED82F9-9A0D-C733-07E4-4DA639151288}"/>
              </a:ext>
            </a:extLst>
          </p:cNvPr>
          <p:cNvSpPr txBox="1"/>
          <p:nvPr/>
        </p:nvSpPr>
        <p:spPr>
          <a:xfrm>
            <a:off x="6502400" y="2235200"/>
            <a:ext cx="4826000" cy="369332"/>
          </a:xfrm>
          <a:prstGeom prst="rect">
            <a:avLst/>
          </a:prstGeom>
          <a:noFill/>
        </p:spPr>
        <p:txBody>
          <a:bodyPr vert="horz" wrap="square" lIns="0" tIns="0" rIns="0" bIns="0" rtlCol="0">
            <a:noAutofit/>
          </a:bodyPr>
          <a:lstStyle/>
          <a:p>
            <a:pPr>
              <a:lnSpc>
                <a:spcPct val="110000"/>
              </a:lnSpc>
            </a:pPr>
            <a:r>
              <a:rPr lang="de-DE" sz="1000" b="1">
                <a:solidFill>
                  <a:srgbClr val="9FB0A7"/>
                </a:solidFill>
                <a:latin typeface="Segoe UI Semibold" panose="020B0702040204020203" pitchFamily="34" charset="0"/>
              </a:rPr>
              <a:t>BEHIND THE SCENES</a:t>
            </a:r>
          </a:p>
        </p:txBody>
      </p:sp>
      <p:sp>
        <p:nvSpPr>
          <p:cNvPr id="22" name="Textfeld 21">
            <a:extLst>
              <a:ext uri="{FF2B5EF4-FFF2-40B4-BE49-F238E27FC236}">
                <a16:creationId xmlns:a16="http://schemas.microsoft.com/office/drawing/2014/main" id="{925B7FC3-1B8A-6828-97CB-C782DD3C771F}"/>
              </a:ext>
            </a:extLst>
          </p:cNvPr>
          <p:cNvSpPr txBox="1"/>
          <p:nvPr/>
        </p:nvSpPr>
        <p:spPr>
          <a:xfrm>
            <a:off x="6502400" y="2565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3" name="Textfeld 22">
            <a:extLst>
              <a:ext uri="{FF2B5EF4-FFF2-40B4-BE49-F238E27FC236}">
                <a16:creationId xmlns:a16="http://schemas.microsoft.com/office/drawing/2014/main" id="{44E51083-101A-6480-B03D-420044EB69A3}"/>
              </a:ext>
            </a:extLst>
          </p:cNvPr>
          <p:cNvSpPr txBox="1"/>
          <p:nvPr/>
        </p:nvSpPr>
        <p:spPr>
          <a:xfrm>
            <a:off x="6781800" y="2565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POST /api/boxes/1/pickup – only the owner, only when Locked.</a:t>
            </a:r>
            <a:endParaRPr lang="de-DE" sz="1250">
              <a:solidFill>
                <a:srgbClr val="DFE6E1"/>
              </a:solidFill>
              <a:latin typeface="Segoe UI" panose="020B0502040204020203" pitchFamily="34" charset="0"/>
            </a:endParaRPr>
          </a:p>
        </p:txBody>
      </p:sp>
      <p:sp>
        <p:nvSpPr>
          <p:cNvPr id="24" name="Textfeld 23">
            <a:extLst>
              <a:ext uri="{FF2B5EF4-FFF2-40B4-BE49-F238E27FC236}">
                <a16:creationId xmlns:a16="http://schemas.microsoft.com/office/drawing/2014/main" id="{7A3BB6AA-2446-2635-6C5A-D2413BF6685E}"/>
              </a:ext>
            </a:extLst>
          </p:cNvPr>
          <p:cNvSpPr txBox="1"/>
          <p:nvPr/>
        </p:nvSpPr>
        <p:spPr>
          <a:xfrm>
            <a:off x="6502400" y="3200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5" name="Textfeld 24">
            <a:extLst>
              <a:ext uri="{FF2B5EF4-FFF2-40B4-BE49-F238E27FC236}">
                <a16:creationId xmlns:a16="http://schemas.microsoft.com/office/drawing/2014/main" id="{7F55F63C-141D-8AB0-87F3-5B72BCE09597}"/>
              </a:ext>
            </a:extLst>
          </p:cNvPr>
          <p:cNvSpPr txBox="1"/>
          <p:nvPr/>
        </p:nvSpPr>
        <p:spPr>
          <a:xfrm>
            <a:off x="6781800" y="3200400"/>
            <a:ext cx="4521200" cy="369332"/>
          </a:xfrm>
          <a:prstGeom prst="rect">
            <a:avLst/>
          </a:prstGeom>
          <a:noFill/>
        </p:spPr>
        <p:txBody>
          <a:bodyPr vert="horz" wrap="square" lIns="0" tIns="0" rIns="0" bIns="0" rtlCol="0">
            <a:noAutofit/>
          </a:bodyPr>
          <a:lstStyle/>
          <a:p>
            <a:pPr>
              <a:lnSpc>
                <a:spcPct val="110000"/>
              </a:lnSpc>
            </a:pPr>
            <a:r>
              <a:rPr lang="de-DE" sz="1250">
                <a:solidFill>
                  <a:srgbClr val="DFE6E1"/>
                </a:solidFill>
                <a:latin typeface="Segoe UI" panose="020B0502040204020203" pitchFamily="34" charset="0"/>
              </a:rPr>
              <a:t>Locked → OpenForPickup, lockOpen: true.</a:t>
            </a:r>
          </a:p>
        </p:txBody>
      </p:sp>
      <p:sp>
        <p:nvSpPr>
          <p:cNvPr id="26" name="Textfeld 25">
            <a:extLst>
              <a:ext uri="{FF2B5EF4-FFF2-40B4-BE49-F238E27FC236}">
                <a16:creationId xmlns:a16="http://schemas.microsoft.com/office/drawing/2014/main" id="{0BFE5A5D-92A9-D6E5-B72F-052F0B726E71}"/>
              </a:ext>
            </a:extLst>
          </p:cNvPr>
          <p:cNvSpPr txBox="1"/>
          <p:nvPr/>
        </p:nvSpPr>
        <p:spPr>
          <a:xfrm>
            <a:off x="6502400" y="3835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7" name="Textfeld 26">
            <a:extLst>
              <a:ext uri="{FF2B5EF4-FFF2-40B4-BE49-F238E27FC236}">
                <a16:creationId xmlns:a16="http://schemas.microsoft.com/office/drawing/2014/main" id="{C13F59C9-CEDF-72E5-A9C1-967A27AF8BFC}"/>
              </a:ext>
            </a:extLst>
          </p:cNvPr>
          <p:cNvSpPr txBox="1"/>
          <p:nvPr/>
        </p:nvSpPr>
        <p:spPr>
          <a:xfrm>
            <a:off x="6781800" y="3835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Bike gone for 5 s → Free, parking ended "Completed".</a:t>
            </a:r>
            <a:endParaRPr lang="de-DE" sz="1250">
              <a:solidFill>
                <a:srgbClr val="DFE6E1"/>
              </a:solidFill>
              <a:latin typeface="Segoe UI" panose="020B0502040204020203" pitchFamily="34" charset="0"/>
            </a:endParaRPr>
          </a:p>
        </p:txBody>
      </p:sp>
      <p:sp>
        <p:nvSpPr>
          <p:cNvPr id="28" name="Textfeld 27">
            <a:extLst>
              <a:ext uri="{FF2B5EF4-FFF2-40B4-BE49-F238E27FC236}">
                <a16:creationId xmlns:a16="http://schemas.microsoft.com/office/drawing/2014/main" id="{D0CC7A9B-8E9B-AE1F-E94B-06201FD3ADC3}"/>
              </a:ext>
            </a:extLst>
          </p:cNvPr>
          <p:cNvSpPr txBox="1"/>
          <p:nvPr/>
        </p:nvSpPr>
        <p:spPr>
          <a:xfrm>
            <a:off x="6502400" y="4470400"/>
            <a:ext cx="254000" cy="369332"/>
          </a:xfrm>
          <a:prstGeom prst="rect">
            <a:avLst/>
          </a:prstGeom>
          <a:noFill/>
        </p:spPr>
        <p:txBody>
          <a:bodyPr vert="horz" wrap="square" lIns="0" tIns="0" rIns="0" bIns="0" rtlCol="0">
            <a:noAutofit/>
          </a:bodyPr>
          <a:lstStyle/>
          <a:p>
            <a:pPr>
              <a:lnSpc>
                <a:spcPct val="110000"/>
              </a:lnSpc>
            </a:pPr>
            <a:r>
              <a:rPr lang="de-DE" sz="1300">
                <a:solidFill>
                  <a:srgbClr val="5AA37E"/>
                </a:solidFill>
                <a:latin typeface="Segoe UI Semibold" panose="020B0702040204020203" pitchFamily="34" charset="0"/>
              </a:rPr>
              <a:t>→</a:t>
            </a:r>
          </a:p>
        </p:txBody>
      </p:sp>
      <p:sp>
        <p:nvSpPr>
          <p:cNvPr id="29" name="Textfeld 28">
            <a:extLst>
              <a:ext uri="{FF2B5EF4-FFF2-40B4-BE49-F238E27FC236}">
                <a16:creationId xmlns:a16="http://schemas.microsoft.com/office/drawing/2014/main" id="{28D63FFC-FBDF-2450-2D81-F991C88A8B1E}"/>
              </a:ext>
            </a:extLst>
          </p:cNvPr>
          <p:cNvSpPr txBox="1"/>
          <p:nvPr/>
        </p:nvSpPr>
        <p:spPr>
          <a:xfrm>
            <a:off x="6781800" y="4470400"/>
            <a:ext cx="45212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Not taken within 120 s → locks again (bike stays safe).</a:t>
            </a:r>
            <a:endParaRPr lang="de-DE" sz="1250">
              <a:solidFill>
                <a:srgbClr val="DFE6E1"/>
              </a:solidFill>
              <a:latin typeface="Segoe UI" panose="020B0502040204020203" pitchFamily="34" charset="0"/>
            </a:endParaRPr>
          </a:p>
        </p:txBody>
      </p:sp>
      <p:sp>
        <p:nvSpPr>
          <p:cNvPr id="30" name="Textfeld 29">
            <a:extLst>
              <a:ext uri="{FF2B5EF4-FFF2-40B4-BE49-F238E27FC236}">
                <a16:creationId xmlns:a16="http://schemas.microsoft.com/office/drawing/2014/main" id="{510CFAA5-05F6-BD18-5922-362E722BE9B8}"/>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31" name="Textfeld 30">
            <a:extLst>
              <a:ext uri="{FF2B5EF4-FFF2-40B4-BE49-F238E27FC236}">
                <a16:creationId xmlns:a16="http://schemas.microsoft.com/office/drawing/2014/main" id="{A20BF820-307B-48CD-8A46-5C13B9ABBBC1}"/>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6</a:t>
            </a:r>
          </a:p>
        </p:txBody>
      </p:sp>
    </p:spTree>
    <p:extLst>
      <p:ext uri="{BB962C8B-B14F-4D97-AF65-F5344CB8AC3E}">
        <p14:creationId xmlns:p14="http://schemas.microsoft.com/office/powerpoint/2010/main" val="443373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919383F8-1E67-5FDE-2D06-D905069E872E}"/>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0E231C7E-48DF-70B2-36DC-9E25134C711E}"/>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WHEN SOMETHING GOES WRONG</a:t>
            </a:r>
          </a:p>
        </p:txBody>
      </p:sp>
      <p:sp>
        <p:nvSpPr>
          <p:cNvPr id="4" name="Textfeld 3">
            <a:extLst>
              <a:ext uri="{FF2B5EF4-FFF2-40B4-BE49-F238E27FC236}">
                <a16:creationId xmlns:a16="http://schemas.microsoft.com/office/drawing/2014/main" id="{11B5A086-B3C0-8DC9-451A-389E5FBB07A3}"/>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de-DE" sz="3000">
                <a:solidFill>
                  <a:srgbClr val="202A27"/>
                </a:solidFill>
                <a:latin typeface="Segoe UI Semibold" panose="020B0702040204020203" pitchFamily="34" charset="0"/>
              </a:rPr>
              <a:t>The alarm journey</a:t>
            </a:r>
          </a:p>
        </p:txBody>
      </p:sp>
      <p:sp>
        <p:nvSpPr>
          <p:cNvPr id="5" name="Textfeld 4">
            <a:extLst>
              <a:ext uri="{FF2B5EF4-FFF2-40B4-BE49-F238E27FC236}">
                <a16:creationId xmlns:a16="http://schemas.microsoft.com/office/drawing/2014/main" id="{A76FA7A0-7B77-9CB2-FD76-0B733E6CACCE}"/>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The bike disappears from a locked box without the owner opening it.</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B7A2E897-81E0-98A1-0B83-CA66516A88F6}"/>
              </a:ext>
            </a:extLst>
          </p:cNvPr>
          <p:cNvSpPr/>
          <p:nvPr/>
        </p:nvSpPr>
        <p:spPr>
          <a:xfrm>
            <a:off x="609600" y="2032000"/>
            <a:ext cx="2032000" cy="2159000"/>
          </a:xfrm>
          <a:prstGeom prst="roundRect">
            <a:avLst>
              <a:gd name="adj" fmla="val 6250"/>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1A469C67-6BF7-ACE5-6B06-122E9F5D2BCA}"/>
              </a:ext>
            </a:extLst>
          </p:cNvPr>
          <p:cNvSpPr txBox="1"/>
          <p:nvPr/>
        </p:nvSpPr>
        <p:spPr>
          <a:xfrm>
            <a:off x="812800" y="2235200"/>
            <a:ext cx="1651000" cy="369332"/>
          </a:xfrm>
          <a:prstGeom prst="rect">
            <a:avLst/>
          </a:prstGeom>
          <a:noFill/>
        </p:spPr>
        <p:txBody>
          <a:bodyPr vert="horz" wrap="square" lIns="0" tIns="0" rIns="0" bIns="0" rtlCol="0">
            <a:noAutofit/>
          </a:bodyPr>
          <a:lstStyle/>
          <a:p>
            <a:pPr>
              <a:lnSpc>
                <a:spcPct val="110000"/>
              </a:lnSpc>
            </a:pPr>
            <a:r>
              <a:rPr lang="de-DE" sz="2200">
                <a:solidFill>
                  <a:srgbClr val="202A27"/>
                </a:solidFill>
                <a:latin typeface="Segoe UI Semibold" panose="020B0702040204020203" pitchFamily="34" charset="0"/>
              </a:rPr>
              <a:t>1</a:t>
            </a:r>
          </a:p>
        </p:txBody>
      </p:sp>
      <p:sp>
        <p:nvSpPr>
          <p:cNvPr id="8" name="Textfeld 7">
            <a:extLst>
              <a:ext uri="{FF2B5EF4-FFF2-40B4-BE49-F238E27FC236}">
                <a16:creationId xmlns:a16="http://schemas.microsoft.com/office/drawing/2014/main" id="{441308E1-1E0F-CF4A-1E34-5D423091299A}"/>
              </a:ext>
            </a:extLst>
          </p:cNvPr>
          <p:cNvSpPr txBox="1"/>
          <p:nvPr/>
        </p:nvSpPr>
        <p:spPr>
          <a:xfrm>
            <a:off x="812800" y="2641600"/>
            <a:ext cx="165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Bike removed</a:t>
            </a:r>
          </a:p>
        </p:txBody>
      </p:sp>
      <p:sp>
        <p:nvSpPr>
          <p:cNvPr id="9" name="Textfeld 8">
            <a:extLst>
              <a:ext uri="{FF2B5EF4-FFF2-40B4-BE49-F238E27FC236}">
                <a16:creationId xmlns:a16="http://schemas.microsoft.com/office/drawing/2014/main" id="{CF45C877-D533-AFE3-38E3-F54543D8D76D}"/>
              </a:ext>
            </a:extLst>
          </p:cNvPr>
          <p:cNvSpPr txBox="1"/>
          <p:nvPr/>
        </p:nvSpPr>
        <p:spPr>
          <a:xfrm>
            <a:off x="812800" y="2997200"/>
            <a:ext cx="1651000" cy="369332"/>
          </a:xfrm>
          <a:prstGeom prst="rect">
            <a:avLst/>
          </a:prstGeom>
          <a:noFill/>
        </p:spPr>
        <p:txBody>
          <a:bodyPr vert="horz" wrap="square" lIns="0" tIns="0" rIns="0" bIns="0" rtlCol="0">
            <a:noAutofit/>
          </a:bodyPr>
          <a:lstStyle/>
          <a:p>
            <a:pPr>
              <a:lnSpc>
                <a:spcPct val="110000"/>
              </a:lnSpc>
            </a:pPr>
            <a:r>
              <a:rPr lang="en-US" sz="1150">
                <a:solidFill>
                  <a:srgbClr val="3F4943"/>
                </a:solidFill>
                <a:latin typeface="Segoe UI" panose="020B0502040204020203" pitchFamily="34" charset="0"/>
              </a:rPr>
              <a:t>Station reports "nothing there" while the box is Locked.</a:t>
            </a:r>
            <a:endParaRPr lang="de-DE" sz="1150">
              <a:solidFill>
                <a:srgbClr val="3F4943"/>
              </a:solidFill>
              <a:latin typeface="Segoe UI" panose="020B0502040204020203" pitchFamily="34" charset="0"/>
            </a:endParaRPr>
          </a:p>
        </p:txBody>
      </p:sp>
      <p:sp>
        <p:nvSpPr>
          <p:cNvPr id="10" name="Textfeld 9">
            <a:extLst>
              <a:ext uri="{FF2B5EF4-FFF2-40B4-BE49-F238E27FC236}">
                <a16:creationId xmlns:a16="http://schemas.microsoft.com/office/drawing/2014/main" id="{18A965C4-537A-E4CD-116E-1B5290473ACD}"/>
              </a:ext>
            </a:extLst>
          </p:cNvPr>
          <p:cNvSpPr txBox="1"/>
          <p:nvPr/>
        </p:nvSpPr>
        <p:spPr>
          <a:xfrm>
            <a:off x="2654300" y="2946400"/>
            <a:ext cx="203200" cy="369332"/>
          </a:xfrm>
          <a:prstGeom prst="rect">
            <a:avLst/>
          </a:prstGeom>
          <a:noFill/>
        </p:spPr>
        <p:txBody>
          <a:bodyPr vert="horz" wrap="square" lIns="0" tIns="0" rIns="0" bIns="0" rtlCol="0">
            <a:noAutofit/>
          </a:bodyPr>
          <a:lstStyle/>
          <a:p>
            <a:pPr>
              <a:lnSpc>
                <a:spcPct val="110000"/>
              </a:lnSpc>
            </a:pPr>
            <a:r>
              <a:rPr lang="de-DE" sz="2000">
                <a:solidFill>
                  <a:srgbClr val="5D6660"/>
                </a:solidFill>
                <a:latin typeface="Segoe UI Semibold" panose="020B0702040204020203" pitchFamily="34" charset="0"/>
              </a:rPr>
              <a:t>›</a:t>
            </a:r>
          </a:p>
        </p:txBody>
      </p:sp>
      <p:sp>
        <p:nvSpPr>
          <p:cNvPr id="11" name="Rechteck: abgerundete Ecken 10">
            <a:extLst>
              <a:ext uri="{FF2B5EF4-FFF2-40B4-BE49-F238E27FC236}">
                <a16:creationId xmlns:a16="http://schemas.microsoft.com/office/drawing/2014/main" id="{FBEE5E32-1641-AF04-B6FA-80B42E7D710D}"/>
              </a:ext>
            </a:extLst>
          </p:cNvPr>
          <p:cNvSpPr/>
          <p:nvPr/>
        </p:nvSpPr>
        <p:spPr>
          <a:xfrm>
            <a:off x="2844800" y="2032000"/>
            <a:ext cx="2032000" cy="2159000"/>
          </a:xfrm>
          <a:prstGeom prst="roundRect">
            <a:avLst>
              <a:gd name="adj" fmla="val 6250"/>
            </a:avLst>
          </a:prstGeom>
          <a:solidFill>
            <a:srgbClr val="FDECEA"/>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feld 11">
            <a:extLst>
              <a:ext uri="{FF2B5EF4-FFF2-40B4-BE49-F238E27FC236}">
                <a16:creationId xmlns:a16="http://schemas.microsoft.com/office/drawing/2014/main" id="{B278575F-733D-4948-1E09-E22E111094BA}"/>
              </a:ext>
            </a:extLst>
          </p:cNvPr>
          <p:cNvSpPr txBox="1"/>
          <p:nvPr/>
        </p:nvSpPr>
        <p:spPr>
          <a:xfrm>
            <a:off x="3048000" y="2235200"/>
            <a:ext cx="1651000" cy="369332"/>
          </a:xfrm>
          <a:prstGeom prst="rect">
            <a:avLst/>
          </a:prstGeom>
          <a:noFill/>
        </p:spPr>
        <p:txBody>
          <a:bodyPr vert="horz" wrap="square" lIns="0" tIns="0" rIns="0" bIns="0" rtlCol="0">
            <a:noAutofit/>
          </a:bodyPr>
          <a:lstStyle/>
          <a:p>
            <a:pPr>
              <a:lnSpc>
                <a:spcPct val="110000"/>
              </a:lnSpc>
            </a:pPr>
            <a:r>
              <a:rPr lang="de-DE" sz="2200">
                <a:solidFill>
                  <a:srgbClr val="B3473B"/>
                </a:solidFill>
                <a:latin typeface="Segoe UI Semibold" panose="020B0702040204020203" pitchFamily="34" charset="0"/>
              </a:rPr>
              <a:t>2</a:t>
            </a:r>
          </a:p>
        </p:txBody>
      </p:sp>
      <p:sp>
        <p:nvSpPr>
          <p:cNvPr id="13" name="Textfeld 12">
            <a:extLst>
              <a:ext uri="{FF2B5EF4-FFF2-40B4-BE49-F238E27FC236}">
                <a16:creationId xmlns:a16="http://schemas.microsoft.com/office/drawing/2014/main" id="{581E97C6-B553-948F-23B3-D3B1239B4AFE}"/>
              </a:ext>
            </a:extLst>
          </p:cNvPr>
          <p:cNvSpPr txBox="1"/>
          <p:nvPr/>
        </p:nvSpPr>
        <p:spPr>
          <a:xfrm>
            <a:off x="3048000" y="2641600"/>
            <a:ext cx="165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3 s confirmed</a:t>
            </a:r>
          </a:p>
        </p:txBody>
      </p:sp>
      <p:sp>
        <p:nvSpPr>
          <p:cNvPr id="14" name="Textfeld 13">
            <a:extLst>
              <a:ext uri="{FF2B5EF4-FFF2-40B4-BE49-F238E27FC236}">
                <a16:creationId xmlns:a16="http://schemas.microsoft.com/office/drawing/2014/main" id="{9FD2ED7B-5528-2D7C-E055-762F7D8DFF7E}"/>
              </a:ext>
            </a:extLst>
          </p:cNvPr>
          <p:cNvSpPr txBox="1"/>
          <p:nvPr/>
        </p:nvSpPr>
        <p:spPr>
          <a:xfrm>
            <a:off x="3048000" y="2997200"/>
            <a:ext cx="1651000" cy="369332"/>
          </a:xfrm>
          <a:prstGeom prst="rect">
            <a:avLst/>
          </a:prstGeom>
          <a:noFill/>
        </p:spPr>
        <p:txBody>
          <a:bodyPr vert="horz" wrap="square" lIns="0" tIns="0" rIns="0" bIns="0" rtlCol="0">
            <a:noAutofit/>
          </a:bodyPr>
          <a:lstStyle/>
          <a:p>
            <a:pPr>
              <a:lnSpc>
                <a:spcPct val="110000"/>
              </a:lnSpc>
            </a:pPr>
            <a:r>
              <a:rPr lang="en-US" sz="1150">
                <a:solidFill>
                  <a:srgbClr val="3F4943"/>
                </a:solidFill>
                <a:latin typeface="Segoe UI" panose="020B0502040204020203" pitchFamily="34" charset="0"/>
              </a:rPr>
              <a:t>Server: Locked → Blocked, parking ended "BikeRemoved", critical alert.</a:t>
            </a:r>
            <a:endParaRPr lang="de-DE" sz="1150">
              <a:solidFill>
                <a:srgbClr val="3F4943"/>
              </a:solidFill>
              <a:latin typeface="Segoe UI" panose="020B0502040204020203" pitchFamily="34" charset="0"/>
            </a:endParaRPr>
          </a:p>
        </p:txBody>
      </p:sp>
      <p:sp>
        <p:nvSpPr>
          <p:cNvPr id="15" name="Textfeld 14">
            <a:extLst>
              <a:ext uri="{FF2B5EF4-FFF2-40B4-BE49-F238E27FC236}">
                <a16:creationId xmlns:a16="http://schemas.microsoft.com/office/drawing/2014/main" id="{138848CD-60BB-CF6A-2083-DED43D76D66E}"/>
              </a:ext>
            </a:extLst>
          </p:cNvPr>
          <p:cNvSpPr txBox="1"/>
          <p:nvPr/>
        </p:nvSpPr>
        <p:spPr>
          <a:xfrm>
            <a:off x="4889500" y="2946400"/>
            <a:ext cx="203200" cy="369332"/>
          </a:xfrm>
          <a:prstGeom prst="rect">
            <a:avLst/>
          </a:prstGeom>
          <a:noFill/>
        </p:spPr>
        <p:txBody>
          <a:bodyPr vert="horz" wrap="square" lIns="0" tIns="0" rIns="0" bIns="0" rtlCol="0">
            <a:noAutofit/>
          </a:bodyPr>
          <a:lstStyle/>
          <a:p>
            <a:pPr>
              <a:lnSpc>
                <a:spcPct val="110000"/>
              </a:lnSpc>
            </a:pPr>
            <a:r>
              <a:rPr lang="de-DE" sz="2000">
                <a:solidFill>
                  <a:srgbClr val="5D6660"/>
                </a:solidFill>
                <a:latin typeface="Segoe UI Semibold" panose="020B0702040204020203" pitchFamily="34" charset="0"/>
              </a:rPr>
              <a:t>›</a:t>
            </a:r>
          </a:p>
        </p:txBody>
      </p:sp>
      <p:sp>
        <p:nvSpPr>
          <p:cNvPr id="16" name="Rechteck: abgerundete Ecken 15">
            <a:extLst>
              <a:ext uri="{FF2B5EF4-FFF2-40B4-BE49-F238E27FC236}">
                <a16:creationId xmlns:a16="http://schemas.microsoft.com/office/drawing/2014/main" id="{E27EF96A-79CB-B89A-511A-4D0B4C9C928B}"/>
              </a:ext>
            </a:extLst>
          </p:cNvPr>
          <p:cNvSpPr/>
          <p:nvPr/>
        </p:nvSpPr>
        <p:spPr>
          <a:xfrm>
            <a:off x="5080000" y="2032000"/>
            <a:ext cx="2032000" cy="2159000"/>
          </a:xfrm>
          <a:prstGeom prst="roundRect">
            <a:avLst>
              <a:gd name="adj" fmla="val 6250"/>
            </a:avLst>
          </a:prstGeom>
          <a:solidFill>
            <a:srgbClr val="FDECEA"/>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6">
            <a:extLst>
              <a:ext uri="{FF2B5EF4-FFF2-40B4-BE49-F238E27FC236}">
                <a16:creationId xmlns:a16="http://schemas.microsoft.com/office/drawing/2014/main" id="{700374DE-6FE5-B1B6-4109-F9E83592132C}"/>
              </a:ext>
            </a:extLst>
          </p:cNvPr>
          <p:cNvSpPr txBox="1"/>
          <p:nvPr/>
        </p:nvSpPr>
        <p:spPr>
          <a:xfrm>
            <a:off x="5283200" y="2235200"/>
            <a:ext cx="1651000" cy="369332"/>
          </a:xfrm>
          <a:prstGeom prst="rect">
            <a:avLst/>
          </a:prstGeom>
          <a:noFill/>
        </p:spPr>
        <p:txBody>
          <a:bodyPr vert="horz" wrap="square" lIns="0" tIns="0" rIns="0" bIns="0" rtlCol="0">
            <a:noAutofit/>
          </a:bodyPr>
          <a:lstStyle/>
          <a:p>
            <a:pPr>
              <a:lnSpc>
                <a:spcPct val="110000"/>
              </a:lnSpc>
            </a:pPr>
            <a:r>
              <a:rPr lang="de-DE" sz="2200">
                <a:solidFill>
                  <a:srgbClr val="B3473B"/>
                </a:solidFill>
                <a:latin typeface="Segoe UI Semibold" panose="020B0702040204020203" pitchFamily="34" charset="0"/>
              </a:rPr>
              <a:t>3</a:t>
            </a:r>
          </a:p>
        </p:txBody>
      </p:sp>
      <p:sp>
        <p:nvSpPr>
          <p:cNvPr id="18" name="Textfeld 17">
            <a:extLst>
              <a:ext uri="{FF2B5EF4-FFF2-40B4-BE49-F238E27FC236}">
                <a16:creationId xmlns:a16="http://schemas.microsoft.com/office/drawing/2014/main" id="{21A778D8-E70B-96AC-EE27-A29494023326}"/>
              </a:ext>
            </a:extLst>
          </p:cNvPr>
          <p:cNvSpPr txBox="1"/>
          <p:nvPr/>
        </p:nvSpPr>
        <p:spPr>
          <a:xfrm>
            <a:off x="5283200" y="2641600"/>
            <a:ext cx="165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Owner alerted</a:t>
            </a:r>
          </a:p>
        </p:txBody>
      </p:sp>
      <p:sp>
        <p:nvSpPr>
          <p:cNvPr id="19" name="Textfeld 18">
            <a:extLst>
              <a:ext uri="{FF2B5EF4-FFF2-40B4-BE49-F238E27FC236}">
                <a16:creationId xmlns:a16="http://schemas.microsoft.com/office/drawing/2014/main" id="{187CA397-683B-C0BF-3FB5-EFEFFFC920C5}"/>
              </a:ext>
            </a:extLst>
          </p:cNvPr>
          <p:cNvSpPr txBox="1"/>
          <p:nvPr/>
        </p:nvSpPr>
        <p:spPr>
          <a:xfrm>
            <a:off x="5283200" y="2997200"/>
            <a:ext cx="1651000" cy="369332"/>
          </a:xfrm>
          <a:prstGeom prst="rect">
            <a:avLst/>
          </a:prstGeom>
          <a:noFill/>
        </p:spPr>
        <p:txBody>
          <a:bodyPr vert="horz" wrap="square" lIns="0" tIns="0" rIns="0" bIns="0" rtlCol="0">
            <a:noAutofit/>
          </a:bodyPr>
          <a:lstStyle/>
          <a:p>
            <a:pPr>
              <a:lnSpc>
                <a:spcPct val="110000"/>
              </a:lnSpc>
            </a:pPr>
            <a:r>
              <a:rPr lang="en-US" sz="1150">
                <a:solidFill>
                  <a:srgbClr val="3F4943"/>
                </a:solidFill>
                <a:latin typeface="Segoe UI" panose="020B0502040204020203" pitchFamily="34" charset="0"/>
              </a:rPr>
              <a:t>Red banner on every page, repeating chime, vibration, blinking tab.</a:t>
            </a:r>
            <a:endParaRPr lang="de-DE" sz="1150">
              <a:solidFill>
                <a:srgbClr val="3F4943"/>
              </a:solidFill>
              <a:latin typeface="Segoe UI" panose="020B0502040204020203" pitchFamily="34" charset="0"/>
            </a:endParaRPr>
          </a:p>
        </p:txBody>
      </p:sp>
      <p:sp>
        <p:nvSpPr>
          <p:cNvPr id="20" name="Textfeld 19">
            <a:extLst>
              <a:ext uri="{FF2B5EF4-FFF2-40B4-BE49-F238E27FC236}">
                <a16:creationId xmlns:a16="http://schemas.microsoft.com/office/drawing/2014/main" id="{8BE78930-2FFC-735E-AB52-109A260FB3C5}"/>
              </a:ext>
            </a:extLst>
          </p:cNvPr>
          <p:cNvSpPr txBox="1"/>
          <p:nvPr/>
        </p:nvSpPr>
        <p:spPr>
          <a:xfrm>
            <a:off x="7124700" y="2946400"/>
            <a:ext cx="203200" cy="369332"/>
          </a:xfrm>
          <a:prstGeom prst="rect">
            <a:avLst/>
          </a:prstGeom>
          <a:noFill/>
        </p:spPr>
        <p:txBody>
          <a:bodyPr vert="horz" wrap="square" lIns="0" tIns="0" rIns="0" bIns="0" rtlCol="0">
            <a:noAutofit/>
          </a:bodyPr>
          <a:lstStyle/>
          <a:p>
            <a:pPr>
              <a:lnSpc>
                <a:spcPct val="110000"/>
              </a:lnSpc>
            </a:pPr>
            <a:r>
              <a:rPr lang="de-DE" sz="2000">
                <a:solidFill>
                  <a:srgbClr val="5D6660"/>
                </a:solidFill>
                <a:latin typeface="Segoe UI Semibold" panose="020B0702040204020203" pitchFamily="34" charset="0"/>
              </a:rPr>
              <a:t>›</a:t>
            </a:r>
          </a:p>
        </p:txBody>
      </p:sp>
      <p:sp>
        <p:nvSpPr>
          <p:cNvPr id="21" name="Rechteck: abgerundete Ecken 20">
            <a:extLst>
              <a:ext uri="{FF2B5EF4-FFF2-40B4-BE49-F238E27FC236}">
                <a16:creationId xmlns:a16="http://schemas.microsoft.com/office/drawing/2014/main" id="{BCB0A627-34D5-588C-B81B-C29FEAB76352}"/>
              </a:ext>
            </a:extLst>
          </p:cNvPr>
          <p:cNvSpPr/>
          <p:nvPr/>
        </p:nvSpPr>
        <p:spPr>
          <a:xfrm>
            <a:off x="7315200" y="2032000"/>
            <a:ext cx="2032000" cy="2159000"/>
          </a:xfrm>
          <a:prstGeom prst="roundRect">
            <a:avLst>
              <a:gd name="adj" fmla="val 6250"/>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597B5B13-9620-1B75-12B9-5165B84B0DDD}"/>
              </a:ext>
            </a:extLst>
          </p:cNvPr>
          <p:cNvSpPr txBox="1"/>
          <p:nvPr/>
        </p:nvSpPr>
        <p:spPr>
          <a:xfrm>
            <a:off x="7518400" y="2235200"/>
            <a:ext cx="1651000" cy="369332"/>
          </a:xfrm>
          <a:prstGeom prst="rect">
            <a:avLst/>
          </a:prstGeom>
          <a:noFill/>
        </p:spPr>
        <p:txBody>
          <a:bodyPr vert="horz" wrap="square" lIns="0" tIns="0" rIns="0" bIns="0" rtlCol="0">
            <a:noAutofit/>
          </a:bodyPr>
          <a:lstStyle/>
          <a:p>
            <a:pPr>
              <a:lnSpc>
                <a:spcPct val="110000"/>
              </a:lnSpc>
            </a:pPr>
            <a:r>
              <a:rPr lang="de-DE" sz="2200">
                <a:solidFill>
                  <a:srgbClr val="202A27"/>
                </a:solidFill>
                <a:latin typeface="Segoe UI Semibold" panose="020B0702040204020203" pitchFamily="34" charset="0"/>
              </a:rPr>
              <a:t>4</a:t>
            </a:r>
          </a:p>
        </p:txBody>
      </p:sp>
      <p:sp>
        <p:nvSpPr>
          <p:cNvPr id="23" name="Textfeld 22">
            <a:extLst>
              <a:ext uri="{FF2B5EF4-FFF2-40B4-BE49-F238E27FC236}">
                <a16:creationId xmlns:a16="http://schemas.microsoft.com/office/drawing/2014/main" id="{7C081A40-C6FA-FA39-81B2-2562D393F8F3}"/>
              </a:ext>
            </a:extLst>
          </p:cNvPr>
          <p:cNvSpPr txBox="1"/>
          <p:nvPr/>
        </p:nvSpPr>
        <p:spPr>
          <a:xfrm>
            <a:off x="7518400" y="2641600"/>
            <a:ext cx="165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Admin reacts</a:t>
            </a:r>
          </a:p>
        </p:txBody>
      </p:sp>
      <p:sp>
        <p:nvSpPr>
          <p:cNvPr id="24" name="Textfeld 23">
            <a:extLst>
              <a:ext uri="{FF2B5EF4-FFF2-40B4-BE49-F238E27FC236}">
                <a16:creationId xmlns:a16="http://schemas.microsoft.com/office/drawing/2014/main" id="{53A95510-783C-8827-7EBA-C2A552CB99EF}"/>
              </a:ext>
            </a:extLst>
          </p:cNvPr>
          <p:cNvSpPr txBox="1"/>
          <p:nvPr/>
        </p:nvSpPr>
        <p:spPr>
          <a:xfrm>
            <a:off x="7518400" y="2997200"/>
            <a:ext cx="1651000" cy="369332"/>
          </a:xfrm>
          <a:prstGeom prst="rect">
            <a:avLst/>
          </a:prstGeom>
          <a:noFill/>
        </p:spPr>
        <p:txBody>
          <a:bodyPr vert="horz" wrap="square" lIns="0" tIns="0" rIns="0" bIns="0" rtlCol="0">
            <a:noAutofit/>
          </a:bodyPr>
          <a:lstStyle/>
          <a:p>
            <a:pPr>
              <a:lnSpc>
                <a:spcPct val="110000"/>
              </a:lnSpc>
            </a:pPr>
            <a:r>
              <a:rPr lang="en-US" sz="1150">
                <a:solidFill>
                  <a:srgbClr val="3F4943"/>
                </a:solidFill>
                <a:latin typeface="Segoe UI" panose="020B0502040204020203" pitchFamily="34" charset="0"/>
              </a:rPr>
              <a:t>Sees the alarm, the user and the time; checks the station on site.</a:t>
            </a:r>
            <a:endParaRPr lang="de-DE" sz="1150">
              <a:solidFill>
                <a:srgbClr val="3F4943"/>
              </a:solidFill>
              <a:latin typeface="Segoe UI" panose="020B0502040204020203" pitchFamily="34" charset="0"/>
            </a:endParaRPr>
          </a:p>
        </p:txBody>
      </p:sp>
      <p:sp>
        <p:nvSpPr>
          <p:cNvPr id="25" name="Textfeld 24">
            <a:extLst>
              <a:ext uri="{FF2B5EF4-FFF2-40B4-BE49-F238E27FC236}">
                <a16:creationId xmlns:a16="http://schemas.microsoft.com/office/drawing/2014/main" id="{9AFEC97E-A4B8-DC64-66C4-A95FE7CA70F2}"/>
              </a:ext>
            </a:extLst>
          </p:cNvPr>
          <p:cNvSpPr txBox="1"/>
          <p:nvPr/>
        </p:nvSpPr>
        <p:spPr>
          <a:xfrm>
            <a:off x="9359900" y="2946400"/>
            <a:ext cx="203200" cy="369332"/>
          </a:xfrm>
          <a:prstGeom prst="rect">
            <a:avLst/>
          </a:prstGeom>
          <a:noFill/>
        </p:spPr>
        <p:txBody>
          <a:bodyPr vert="horz" wrap="square" lIns="0" tIns="0" rIns="0" bIns="0" rtlCol="0">
            <a:noAutofit/>
          </a:bodyPr>
          <a:lstStyle/>
          <a:p>
            <a:pPr>
              <a:lnSpc>
                <a:spcPct val="110000"/>
              </a:lnSpc>
            </a:pPr>
            <a:r>
              <a:rPr lang="de-DE" sz="2000">
                <a:solidFill>
                  <a:srgbClr val="5D6660"/>
                </a:solidFill>
                <a:latin typeface="Segoe UI Semibold" panose="020B0702040204020203" pitchFamily="34" charset="0"/>
              </a:rPr>
              <a:t>›</a:t>
            </a:r>
          </a:p>
        </p:txBody>
      </p:sp>
      <p:sp>
        <p:nvSpPr>
          <p:cNvPr id="26" name="Rechteck: abgerundete Ecken 25">
            <a:extLst>
              <a:ext uri="{FF2B5EF4-FFF2-40B4-BE49-F238E27FC236}">
                <a16:creationId xmlns:a16="http://schemas.microsoft.com/office/drawing/2014/main" id="{5AF589EB-2DE0-4FF7-4A22-8E3A8217F46E}"/>
              </a:ext>
            </a:extLst>
          </p:cNvPr>
          <p:cNvSpPr/>
          <p:nvPr/>
        </p:nvSpPr>
        <p:spPr>
          <a:xfrm>
            <a:off x="9550400" y="2032000"/>
            <a:ext cx="2032000" cy="2159000"/>
          </a:xfrm>
          <a:prstGeom prst="roundRect">
            <a:avLst>
              <a:gd name="adj" fmla="val 6250"/>
            </a:avLst>
          </a:prstGeom>
          <a:solidFill>
            <a:srgbClr val="E2F1E8"/>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81B6F703-7BA7-89F5-4598-EFF282D8EB93}"/>
              </a:ext>
            </a:extLst>
          </p:cNvPr>
          <p:cNvSpPr txBox="1"/>
          <p:nvPr/>
        </p:nvSpPr>
        <p:spPr>
          <a:xfrm>
            <a:off x="9753600" y="2235200"/>
            <a:ext cx="1651000" cy="369332"/>
          </a:xfrm>
          <a:prstGeom prst="rect">
            <a:avLst/>
          </a:prstGeom>
          <a:noFill/>
        </p:spPr>
        <p:txBody>
          <a:bodyPr vert="horz" wrap="square" lIns="0" tIns="0" rIns="0" bIns="0" rtlCol="0">
            <a:noAutofit/>
          </a:bodyPr>
          <a:lstStyle/>
          <a:p>
            <a:pPr>
              <a:lnSpc>
                <a:spcPct val="110000"/>
              </a:lnSpc>
            </a:pPr>
            <a:r>
              <a:rPr lang="de-DE" sz="2200">
                <a:solidFill>
                  <a:srgbClr val="1D7656"/>
                </a:solidFill>
                <a:latin typeface="Segoe UI Semibold" panose="020B0702040204020203" pitchFamily="34" charset="0"/>
              </a:rPr>
              <a:t>5</a:t>
            </a:r>
          </a:p>
        </p:txBody>
      </p:sp>
      <p:sp>
        <p:nvSpPr>
          <p:cNvPr id="28" name="Textfeld 27">
            <a:extLst>
              <a:ext uri="{FF2B5EF4-FFF2-40B4-BE49-F238E27FC236}">
                <a16:creationId xmlns:a16="http://schemas.microsoft.com/office/drawing/2014/main" id="{6DDC8238-E530-0083-D2DB-B7EE69D04CBC}"/>
              </a:ext>
            </a:extLst>
          </p:cNvPr>
          <p:cNvSpPr txBox="1"/>
          <p:nvPr/>
        </p:nvSpPr>
        <p:spPr>
          <a:xfrm>
            <a:off x="9753600" y="2641600"/>
            <a:ext cx="1651000" cy="369332"/>
          </a:xfrm>
          <a:prstGeom prst="rect">
            <a:avLst/>
          </a:prstGeom>
          <a:noFill/>
        </p:spPr>
        <p:txBody>
          <a:bodyPr vert="horz" wrap="square" lIns="0" tIns="0" rIns="0" bIns="0" rtlCol="0">
            <a:noAutofit/>
          </a:bodyPr>
          <a:lstStyle/>
          <a:p>
            <a:pPr>
              <a:lnSpc>
                <a:spcPct val="110000"/>
              </a:lnSpc>
            </a:pPr>
            <a:r>
              <a:rPr lang="de-DE" sz="1500">
                <a:solidFill>
                  <a:srgbClr val="202A27"/>
                </a:solidFill>
                <a:latin typeface="Segoe UI Semibold" panose="020B0702040204020203" pitchFamily="34" charset="0"/>
              </a:rPr>
              <a:t>Released</a:t>
            </a:r>
          </a:p>
        </p:txBody>
      </p:sp>
      <p:sp>
        <p:nvSpPr>
          <p:cNvPr id="29" name="Textfeld 28">
            <a:extLst>
              <a:ext uri="{FF2B5EF4-FFF2-40B4-BE49-F238E27FC236}">
                <a16:creationId xmlns:a16="http://schemas.microsoft.com/office/drawing/2014/main" id="{6291E134-EB50-B58B-CCBF-8485DFECDB1B}"/>
              </a:ext>
            </a:extLst>
          </p:cNvPr>
          <p:cNvSpPr txBox="1"/>
          <p:nvPr/>
        </p:nvSpPr>
        <p:spPr>
          <a:xfrm>
            <a:off x="9753600" y="2997200"/>
            <a:ext cx="1651000" cy="369332"/>
          </a:xfrm>
          <a:prstGeom prst="rect">
            <a:avLst/>
          </a:prstGeom>
          <a:noFill/>
        </p:spPr>
        <p:txBody>
          <a:bodyPr vert="horz" wrap="square" lIns="0" tIns="0" rIns="0" bIns="0" rtlCol="0">
            <a:noAutofit/>
          </a:bodyPr>
          <a:lstStyle/>
          <a:p>
            <a:pPr>
              <a:lnSpc>
                <a:spcPct val="110000"/>
              </a:lnSpc>
            </a:pPr>
            <a:r>
              <a:rPr lang="en-US" sz="1150">
                <a:solidFill>
                  <a:srgbClr val="3F4943"/>
                </a:solidFill>
                <a:latin typeface="Segoe UI" panose="020B0502040204020203" pitchFamily="34" charset="0"/>
              </a:rPr>
              <a:t>Admin releases the box – logged with the admin's name.</a:t>
            </a:r>
            <a:endParaRPr lang="de-DE" sz="1150">
              <a:solidFill>
                <a:srgbClr val="3F4943"/>
              </a:solidFill>
              <a:latin typeface="Segoe UI" panose="020B0502040204020203" pitchFamily="34" charset="0"/>
            </a:endParaRPr>
          </a:p>
        </p:txBody>
      </p:sp>
      <p:sp>
        <p:nvSpPr>
          <p:cNvPr id="30" name="Rechteck: abgerundete Ecken 29">
            <a:extLst>
              <a:ext uri="{FF2B5EF4-FFF2-40B4-BE49-F238E27FC236}">
                <a16:creationId xmlns:a16="http://schemas.microsoft.com/office/drawing/2014/main" id="{41A0FC5B-F7F2-DCFE-05EB-8B6DCAF398FE}"/>
              </a:ext>
            </a:extLst>
          </p:cNvPr>
          <p:cNvSpPr/>
          <p:nvPr/>
        </p:nvSpPr>
        <p:spPr>
          <a:xfrm>
            <a:off x="609600" y="4470400"/>
            <a:ext cx="10972800" cy="1397000"/>
          </a:xfrm>
          <a:prstGeom prst="roundRect">
            <a:avLst>
              <a:gd name="adj" fmla="val 9091"/>
            </a:avLst>
          </a:prstGeom>
          <a:solidFill>
            <a:srgbClr val="FDECEA"/>
          </a:solidFill>
          <a:ln w="12700">
            <a:solidFill>
              <a:srgbClr val="EFC4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Rechteck 30">
            <a:extLst>
              <a:ext uri="{FF2B5EF4-FFF2-40B4-BE49-F238E27FC236}">
                <a16:creationId xmlns:a16="http://schemas.microsoft.com/office/drawing/2014/main" id="{E4A1A1D9-CA38-F7B9-A4EE-86AC96CA732C}"/>
              </a:ext>
            </a:extLst>
          </p:cNvPr>
          <p:cNvSpPr/>
          <p:nvPr/>
        </p:nvSpPr>
        <p:spPr>
          <a:xfrm>
            <a:off x="609600" y="4470400"/>
            <a:ext cx="76200" cy="1397000"/>
          </a:xfrm>
          <a:prstGeom prst="rect">
            <a:avLst/>
          </a:prstGeom>
          <a:solidFill>
            <a:srgbClr val="B347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feld 31">
            <a:extLst>
              <a:ext uri="{FF2B5EF4-FFF2-40B4-BE49-F238E27FC236}">
                <a16:creationId xmlns:a16="http://schemas.microsoft.com/office/drawing/2014/main" id="{3E536124-6047-F674-8E45-A7D9CC1612CC}"/>
              </a:ext>
            </a:extLst>
          </p:cNvPr>
          <p:cNvSpPr txBox="1"/>
          <p:nvPr/>
        </p:nvSpPr>
        <p:spPr>
          <a:xfrm>
            <a:off x="914400" y="4673600"/>
            <a:ext cx="7620000" cy="369332"/>
          </a:xfrm>
          <a:prstGeom prst="rect">
            <a:avLst/>
          </a:prstGeom>
          <a:noFill/>
        </p:spPr>
        <p:txBody>
          <a:bodyPr vert="horz" wrap="square" lIns="0" tIns="0" rIns="0" bIns="0" rtlCol="0">
            <a:noAutofit/>
          </a:bodyPr>
          <a:lstStyle/>
          <a:p>
            <a:pPr>
              <a:lnSpc>
                <a:spcPct val="110000"/>
              </a:lnSpc>
            </a:pPr>
            <a:r>
              <a:rPr lang="en-US" sz="1700">
                <a:solidFill>
                  <a:srgbClr val="B3473B"/>
                </a:solidFill>
                <a:latin typeface="Segoe UI Semibold" panose="020B0702040204020203" pitchFamily="34" charset="0"/>
              </a:rPr>
              <a:t>Your bike was unexpectedly removed from Stellplatz 1!</a:t>
            </a:r>
            <a:endParaRPr lang="de-DE" sz="1700">
              <a:solidFill>
                <a:srgbClr val="B3473B"/>
              </a:solidFill>
              <a:latin typeface="Segoe UI Semibold" panose="020B0702040204020203" pitchFamily="34" charset="0"/>
            </a:endParaRPr>
          </a:p>
        </p:txBody>
      </p:sp>
      <p:sp>
        <p:nvSpPr>
          <p:cNvPr id="33" name="Textfeld 32">
            <a:extLst>
              <a:ext uri="{FF2B5EF4-FFF2-40B4-BE49-F238E27FC236}">
                <a16:creationId xmlns:a16="http://schemas.microsoft.com/office/drawing/2014/main" id="{F97BA05B-E68A-3995-E4E2-EDFFED698FDA}"/>
              </a:ext>
            </a:extLst>
          </p:cNvPr>
          <p:cNvSpPr txBox="1"/>
          <p:nvPr/>
        </p:nvSpPr>
        <p:spPr>
          <a:xfrm>
            <a:off x="914400" y="5029200"/>
            <a:ext cx="76200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The box was not opened. The operator has been informed and is checking the station.</a:t>
            </a:r>
            <a:endParaRPr lang="de-DE" sz="1250">
              <a:solidFill>
                <a:srgbClr val="3F4943"/>
              </a:solidFill>
              <a:latin typeface="Segoe UI" panose="020B0502040204020203" pitchFamily="34" charset="0"/>
            </a:endParaRPr>
          </a:p>
        </p:txBody>
      </p:sp>
      <p:sp>
        <p:nvSpPr>
          <p:cNvPr id="34" name="Rechteck: abgerundete Ecken 33">
            <a:extLst>
              <a:ext uri="{FF2B5EF4-FFF2-40B4-BE49-F238E27FC236}">
                <a16:creationId xmlns:a16="http://schemas.microsoft.com/office/drawing/2014/main" id="{278259F8-2180-4F42-15C2-8B8C2858D376}"/>
              </a:ext>
            </a:extLst>
          </p:cNvPr>
          <p:cNvSpPr/>
          <p:nvPr/>
        </p:nvSpPr>
        <p:spPr>
          <a:xfrm>
            <a:off x="8890000" y="4876800"/>
            <a:ext cx="2413000" cy="508000"/>
          </a:xfrm>
          <a:prstGeom prst="roundRect">
            <a:avLst>
              <a:gd name="adj" fmla="val 25000"/>
            </a:avLst>
          </a:prstGeom>
          <a:solidFill>
            <a:srgbClr val="FFFFFF"/>
          </a:solidFill>
          <a:ln w="12700">
            <a:solidFill>
              <a:srgbClr val="202A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solidFill>
                  <a:srgbClr val="202A27"/>
                </a:solidFill>
                <a:latin typeface="Segoe UI Semibold" panose="020B0702040204020203" pitchFamily="34" charset="0"/>
              </a:rPr>
              <a:t>Got it – stop alarm</a:t>
            </a:r>
          </a:p>
        </p:txBody>
      </p:sp>
      <p:sp>
        <p:nvSpPr>
          <p:cNvPr id="35" name="Textfeld 34">
            <a:extLst>
              <a:ext uri="{FF2B5EF4-FFF2-40B4-BE49-F238E27FC236}">
                <a16:creationId xmlns:a16="http://schemas.microsoft.com/office/drawing/2014/main" id="{6C4B7BA3-C781-BC6B-CCEB-8598EFCC0249}"/>
              </a:ext>
            </a:extLst>
          </p:cNvPr>
          <p:cNvSpPr txBox="1"/>
          <p:nvPr/>
        </p:nvSpPr>
        <p:spPr>
          <a:xfrm>
            <a:off x="914400" y="5562600"/>
            <a:ext cx="10414000" cy="369332"/>
          </a:xfrm>
          <a:prstGeom prst="rect">
            <a:avLst/>
          </a:prstGeom>
          <a:noFill/>
        </p:spPr>
        <p:txBody>
          <a:bodyPr vert="horz" wrap="square" lIns="0" tIns="0" rIns="0" bIns="0" rtlCol="0">
            <a:noAutofit/>
          </a:bodyPr>
          <a:lstStyle/>
          <a:p>
            <a:pPr>
              <a:lnSpc>
                <a:spcPct val="110000"/>
              </a:lnSpc>
            </a:pPr>
            <a:r>
              <a:rPr lang="en-US" sz="1050">
                <a:solidFill>
                  <a:srgbClr val="5D6660"/>
                </a:solidFill>
                <a:latin typeface="Segoe UI" panose="020B0502040204020203" pitchFamily="34" charset="0"/>
              </a:rPr>
              <a:t>Acknowledging the message stops sound, vibration and blinking. The box stays blocked until an admin releases it.</a:t>
            </a:r>
            <a:endParaRPr lang="de-DE" sz="1050">
              <a:solidFill>
                <a:srgbClr val="5D6660"/>
              </a:solidFill>
              <a:latin typeface="Segoe UI" panose="020B0502040204020203" pitchFamily="34" charset="0"/>
            </a:endParaRPr>
          </a:p>
        </p:txBody>
      </p:sp>
      <p:sp>
        <p:nvSpPr>
          <p:cNvPr id="36" name="Textfeld 35">
            <a:extLst>
              <a:ext uri="{FF2B5EF4-FFF2-40B4-BE49-F238E27FC236}">
                <a16:creationId xmlns:a16="http://schemas.microsoft.com/office/drawing/2014/main" id="{4F263B04-81C1-082E-3D30-8484225BC575}"/>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37" name="Textfeld 36">
            <a:extLst>
              <a:ext uri="{FF2B5EF4-FFF2-40B4-BE49-F238E27FC236}">
                <a16:creationId xmlns:a16="http://schemas.microsoft.com/office/drawing/2014/main" id="{12F8E968-5F72-3FF1-6C0E-39EB6042B5A3}"/>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7</a:t>
            </a:r>
          </a:p>
        </p:txBody>
      </p:sp>
    </p:spTree>
    <p:extLst>
      <p:ext uri="{BB962C8B-B14F-4D97-AF65-F5344CB8AC3E}">
        <p14:creationId xmlns:p14="http://schemas.microsoft.com/office/powerpoint/2010/main" val="2846633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977816E6-FEE8-790D-140C-5DDCCA322C92}"/>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ADEE9B3B-35BA-C03C-EC51-F34869D3CF67}"/>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THE ADMIN JOURNEY</a:t>
            </a:r>
          </a:p>
        </p:txBody>
      </p:sp>
      <p:sp>
        <p:nvSpPr>
          <p:cNvPr id="4" name="Textfeld 3">
            <a:extLst>
              <a:ext uri="{FF2B5EF4-FFF2-40B4-BE49-F238E27FC236}">
                <a16:creationId xmlns:a16="http://schemas.microsoft.com/office/drawing/2014/main" id="{15931C15-7CD5-8CBF-86A3-C18632FAE762}"/>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en-US" sz="3000">
                <a:solidFill>
                  <a:srgbClr val="202A27"/>
                </a:solidFill>
                <a:latin typeface="Segoe UI Semibold" panose="020B0702040204020203" pitchFamily="34" charset="0"/>
              </a:rPr>
              <a:t>Keeping an eye on every station</a:t>
            </a:r>
            <a:endParaRPr lang="de-DE" sz="3000">
              <a:solidFill>
                <a:srgbClr val="202A27"/>
              </a:solidFill>
              <a:latin typeface="Segoe UI Semibold" panose="020B0702040204020203" pitchFamily="34" charset="0"/>
            </a:endParaRPr>
          </a:p>
        </p:txBody>
      </p:sp>
      <p:sp>
        <p:nvSpPr>
          <p:cNvPr id="5" name="Textfeld 4">
            <a:extLst>
              <a:ext uri="{FF2B5EF4-FFF2-40B4-BE49-F238E27FC236}">
                <a16:creationId xmlns:a16="http://schemas.microsoft.com/office/drawing/2014/main" id="{38DFC908-F647-C645-99F3-C3527DDF2E83}"/>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One page, ordered by urgency: who is where, what needs action, and the full history at the bottom.</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1F594165-5854-5556-5D3C-088BC095320A}"/>
              </a:ext>
            </a:extLst>
          </p:cNvPr>
          <p:cNvSpPr/>
          <p:nvPr/>
        </p:nvSpPr>
        <p:spPr>
          <a:xfrm>
            <a:off x="609600" y="2032000"/>
            <a:ext cx="5410200" cy="1727200"/>
          </a:xfrm>
          <a:prstGeom prst="roundRect">
            <a:avLst>
              <a:gd name="adj" fmla="val 735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abgerundete Ecken 6">
            <a:extLst>
              <a:ext uri="{FF2B5EF4-FFF2-40B4-BE49-F238E27FC236}">
                <a16:creationId xmlns:a16="http://schemas.microsoft.com/office/drawing/2014/main" id="{ED63AB6B-9657-A232-DCAE-A7B151BFF81E}"/>
              </a:ext>
            </a:extLst>
          </p:cNvPr>
          <p:cNvSpPr/>
          <p:nvPr/>
        </p:nvSpPr>
        <p:spPr>
          <a:xfrm>
            <a:off x="863600" y="2260600"/>
            <a:ext cx="304800" cy="254000"/>
          </a:xfrm>
          <a:prstGeom prst="roundRect">
            <a:avLst>
              <a:gd name="adj" fmla="val 50000"/>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FFFFFF"/>
                </a:solidFill>
                <a:latin typeface="Segoe UI Semibold" panose="020B0702040204020203" pitchFamily="34" charset="0"/>
              </a:rPr>
              <a:t>1</a:t>
            </a:r>
          </a:p>
        </p:txBody>
      </p:sp>
      <p:sp>
        <p:nvSpPr>
          <p:cNvPr id="8" name="Textfeld 7">
            <a:extLst>
              <a:ext uri="{FF2B5EF4-FFF2-40B4-BE49-F238E27FC236}">
                <a16:creationId xmlns:a16="http://schemas.microsoft.com/office/drawing/2014/main" id="{C5E640FA-A738-DA82-F9D5-C0BE3C9D1B53}"/>
              </a:ext>
            </a:extLst>
          </p:cNvPr>
          <p:cNvSpPr txBox="1"/>
          <p:nvPr/>
        </p:nvSpPr>
        <p:spPr>
          <a:xfrm>
            <a:off x="1295400" y="2247900"/>
            <a:ext cx="4445000" cy="369332"/>
          </a:xfrm>
          <a:prstGeom prst="rect">
            <a:avLst/>
          </a:prstGeom>
          <a:noFill/>
        </p:spPr>
        <p:txBody>
          <a:bodyPr vert="horz" wrap="square" lIns="0" tIns="0" rIns="0" bIns="0" rtlCol="0">
            <a:noAutofit/>
          </a:bodyPr>
          <a:lstStyle/>
          <a:p>
            <a:pPr>
              <a:lnSpc>
                <a:spcPct val="110000"/>
              </a:lnSpc>
            </a:pPr>
            <a:r>
              <a:rPr lang="en-US" sz="1600">
                <a:solidFill>
                  <a:srgbClr val="202A27"/>
                </a:solidFill>
                <a:latin typeface="Segoe UI Semibold" panose="020B0702040204020203" pitchFamily="34" charset="0"/>
              </a:rPr>
              <a:t>Who is at which box?</a:t>
            </a:r>
            <a:endParaRPr lang="de-DE" sz="1600">
              <a:solidFill>
                <a:srgbClr val="202A27"/>
              </a:solidFill>
              <a:latin typeface="Segoe UI Semibold" panose="020B0702040204020203" pitchFamily="34" charset="0"/>
            </a:endParaRPr>
          </a:p>
        </p:txBody>
      </p:sp>
      <p:sp>
        <p:nvSpPr>
          <p:cNvPr id="9" name="Textfeld 8">
            <a:extLst>
              <a:ext uri="{FF2B5EF4-FFF2-40B4-BE49-F238E27FC236}">
                <a16:creationId xmlns:a16="http://schemas.microsoft.com/office/drawing/2014/main" id="{DEFF6367-2495-C9F3-27CC-6DCBA152E486}"/>
              </a:ext>
            </a:extLst>
          </p:cNvPr>
          <p:cNvSpPr txBox="1"/>
          <p:nvPr/>
        </p:nvSpPr>
        <p:spPr>
          <a:xfrm>
            <a:off x="863600" y="2692400"/>
            <a:ext cx="4953000" cy="369332"/>
          </a:xfrm>
          <a:prstGeom prst="rect">
            <a:avLst/>
          </a:prstGeom>
          <a:noFill/>
        </p:spPr>
        <p:txBody>
          <a:bodyPr vert="horz" wrap="square" lIns="0" tIns="0" rIns="0" bIns="0" rtlCol="0">
            <a:noAutofit/>
          </a:bodyPr>
          <a:lstStyle/>
          <a:p>
            <a:pPr>
              <a:lnSpc>
                <a:spcPct val="110000"/>
              </a:lnSpc>
            </a:pPr>
            <a:r>
              <a:rPr lang="de-DE" sz="1200">
                <a:solidFill>
                  <a:srgbClr val="3F4943"/>
                </a:solidFill>
                <a:latin typeface="Segoe UI" panose="020B0502040204020203" pitchFamily="34" charset="0"/>
              </a:rPr>
              <a:t>Stellplatz 1 · Hackathon Halle
Occupied by testfahrer · bike inside since 10:41 · Locked</a:t>
            </a:r>
          </a:p>
        </p:txBody>
      </p:sp>
      <p:sp>
        <p:nvSpPr>
          <p:cNvPr id="10" name="Rechteck: abgerundete Ecken 9">
            <a:extLst>
              <a:ext uri="{FF2B5EF4-FFF2-40B4-BE49-F238E27FC236}">
                <a16:creationId xmlns:a16="http://schemas.microsoft.com/office/drawing/2014/main" id="{54C8F2C9-1F6E-A83A-C707-E824994079DE}"/>
              </a:ext>
            </a:extLst>
          </p:cNvPr>
          <p:cNvSpPr/>
          <p:nvPr/>
        </p:nvSpPr>
        <p:spPr>
          <a:xfrm>
            <a:off x="6172200" y="2032000"/>
            <a:ext cx="5410200" cy="1727200"/>
          </a:xfrm>
          <a:prstGeom prst="roundRect">
            <a:avLst>
              <a:gd name="adj" fmla="val 735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333149B8-975F-AB84-783E-D71EF82BBF25}"/>
              </a:ext>
            </a:extLst>
          </p:cNvPr>
          <p:cNvSpPr/>
          <p:nvPr/>
        </p:nvSpPr>
        <p:spPr>
          <a:xfrm>
            <a:off x="6426200" y="2260600"/>
            <a:ext cx="304800" cy="254000"/>
          </a:xfrm>
          <a:prstGeom prst="roundRect">
            <a:avLst>
              <a:gd name="adj" fmla="val 50000"/>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FFFFFF"/>
                </a:solidFill>
                <a:latin typeface="Segoe UI Semibold" panose="020B0702040204020203" pitchFamily="34" charset="0"/>
              </a:rPr>
              <a:t>2</a:t>
            </a:r>
          </a:p>
        </p:txBody>
      </p:sp>
      <p:sp>
        <p:nvSpPr>
          <p:cNvPr id="12" name="Textfeld 11">
            <a:extLst>
              <a:ext uri="{FF2B5EF4-FFF2-40B4-BE49-F238E27FC236}">
                <a16:creationId xmlns:a16="http://schemas.microsoft.com/office/drawing/2014/main" id="{29BCC3DD-38B8-18F8-EC05-5E12BCBF6BEA}"/>
              </a:ext>
            </a:extLst>
          </p:cNvPr>
          <p:cNvSpPr txBox="1"/>
          <p:nvPr/>
        </p:nvSpPr>
        <p:spPr>
          <a:xfrm>
            <a:off x="6858000" y="2247900"/>
            <a:ext cx="4445000" cy="369332"/>
          </a:xfrm>
          <a:prstGeom prst="rect">
            <a:avLst/>
          </a:prstGeom>
          <a:noFill/>
        </p:spPr>
        <p:txBody>
          <a:bodyPr vert="horz" wrap="square" lIns="0" tIns="0" rIns="0" bIns="0" rtlCol="0">
            <a:noAutofit/>
          </a:bodyPr>
          <a:lstStyle/>
          <a:p>
            <a:pPr>
              <a:lnSpc>
                <a:spcPct val="110000"/>
              </a:lnSpc>
            </a:pPr>
            <a:r>
              <a:rPr lang="de-DE" sz="1600">
                <a:solidFill>
                  <a:srgbClr val="202A27"/>
                </a:solidFill>
                <a:latin typeface="Segoe UI Semibold" panose="020B0702040204020203" pitchFamily="34" charset="0"/>
              </a:rPr>
              <a:t>Manage stations</a:t>
            </a:r>
          </a:p>
        </p:txBody>
      </p:sp>
      <p:sp>
        <p:nvSpPr>
          <p:cNvPr id="13" name="Textfeld 12">
            <a:extLst>
              <a:ext uri="{FF2B5EF4-FFF2-40B4-BE49-F238E27FC236}">
                <a16:creationId xmlns:a16="http://schemas.microsoft.com/office/drawing/2014/main" id="{D15FC50E-0DE3-8F44-04D3-A9C22C90C1B7}"/>
              </a:ext>
            </a:extLst>
          </p:cNvPr>
          <p:cNvSpPr txBox="1"/>
          <p:nvPr/>
        </p:nvSpPr>
        <p:spPr>
          <a:xfrm>
            <a:off x="6426200" y="2692400"/>
            <a:ext cx="4953000" cy="369332"/>
          </a:xfrm>
          <a:prstGeom prst="rect">
            <a:avLst/>
          </a:prstGeom>
          <a:noFill/>
        </p:spPr>
        <p:txBody>
          <a:bodyPr vert="horz" wrap="square" lIns="0" tIns="0" rIns="0" bIns="0" rtlCol="0">
            <a:noAutofit/>
          </a:bodyPr>
          <a:lstStyle/>
          <a:p>
            <a:pPr>
              <a:lnSpc>
                <a:spcPct val="110000"/>
              </a:lnSpc>
            </a:pPr>
            <a:r>
              <a:rPr lang="en-US" sz="1200">
                <a:solidFill>
                  <a:srgbClr val="3F4943"/>
                </a:solidFill>
                <a:latin typeface="Segoe UI" panose="020B0502040204020203" pitchFamily="34" charset="0"/>
              </a:rPr>
              <a:t>Add a station (gets the next number = hardware slot_id), change its location, delete a free station.</a:t>
            </a:r>
            <a:endParaRPr lang="de-DE" sz="1200">
              <a:solidFill>
                <a:srgbClr val="3F4943"/>
              </a:solidFill>
              <a:latin typeface="Segoe UI" panose="020B0502040204020203" pitchFamily="34" charset="0"/>
            </a:endParaRPr>
          </a:p>
        </p:txBody>
      </p:sp>
      <p:sp>
        <p:nvSpPr>
          <p:cNvPr id="14" name="Rechteck: abgerundete Ecken 13">
            <a:extLst>
              <a:ext uri="{FF2B5EF4-FFF2-40B4-BE49-F238E27FC236}">
                <a16:creationId xmlns:a16="http://schemas.microsoft.com/office/drawing/2014/main" id="{D37C8E1F-E0B5-6AA9-FC98-DBF08B67802A}"/>
              </a:ext>
            </a:extLst>
          </p:cNvPr>
          <p:cNvSpPr/>
          <p:nvPr/>
        </p:nvSpPr>
        <p:spPr>
          <a:xfrm>
            <a:off x="609600" y="3937000"/>
            <a:ext cx="5410200" cy="1727200"/>
          </a:xfrm>
          <a:prstGeom prst="roundRect">
            <a:avLst>
              <a:gd name="adj" fmla="val 735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abgerundete Ecken 14">
            <a:extLst>
              <a:ext uri="{FF2B5EF4-FFF2-40B4-BE49-F238E27FC236}">
                <a16:creationId xmlns:a16="http://schemas.microsoft.com/office/drawing/2014/main" id="{24093428-CF9D-2CBB-5C12-BFD3D1E5F25F}"/>
              </a:ext>
            </a:extLst>
          </p:cNvPr>
          <p:cNvSpPr/>
          <p:nvPr/>
        </p:nvSpPr>
        <p:spPr>
          <a:xfrm>
            <a:off x="863600" y="4165600"/>
            <a:ext cx="304800" cy="254000"/>
          </a:xfrm>
          <a:prstGeom prst="roundRect">
            <a:avLst>
              <a:gd name="adj" fmla="val 50000"/>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FFFFFF"/>
                </a:solidFill>
                <a:latin typeface="Segoe UI Semibold" panose="020B0702040204020203" pitchFamily="34" charset="0"/>
              </a:rPr>
              <a:t>3</a:t>
            </a:r>
          </a:p>
        </p:txBody>
      </p:sp>
      <p:sp>
        <p:nvSpPr>
          <p:cNvPr id="16" name="Textfeld 15">
            <a:extLst>
              <a:ext uri="{FF2B5EF4-FFF2-40B4-BE49-F238E27FC236}">
                <a16:creationId xmlns:a16="http://schemas.microsoft.com/office/drawing/2014/main" id="{767F2D34-86E1-21B0-87ED-5F9DAAC364D0}"/>
              </a:ext>
            </a:extLst>
          </p:cNvPr>
          <p:cNvSpPr txBox="1"/>
          <p:nvPr/>
        </p:nvSpPr>
        <p:spPr>
          <a:xfrm>
            <a:off x="1295400" y="4152900"/>
            <a:ext cx="4445000" cy="369332"/>
          </a:xfrm>
          <a:prstGeom prst="rect">
            <a:avLst/>
          </a:prstGeom>
          <a:noFill/>
        </p:spPr>
        <p:txBody>
          <a:bodyPr vert="horz" wrap="square" lIns="0" tIns="0" rIns="0" bIns="0" rtlCol="0">
            <a:noAutofit/>
          </a:bodyPr>
          <a:lstStyle/>
          <a:p>
            <a:pPr>
              <a:lnSpc>
                <a:spcPct val="110000"/>
              </a:lnSpc>
            </a:pPr>
            <a:r>
              <a:rPr lang="de-DE" sz="1600">
                <a:solidFill>
                  <a:srgbClr val="202A27"/>
                </a:solidFill>
                <a:latin typeface="Segoe UI Semibold" panose="020B0702040204020203" pitchFamily="34" charset="0"/>
              </a:rPr>
              <a:t>Open alerts &amp; blocked boxes</a:t>
            </a:r>
          </a:p>
        </p:txBody>
      </p:sp>
      <p:sp>
        <p:nvSpPr>
          <p:cNvPr id="17" name="Textfeld 16">
            <a:extLst>
              <a:ext uri="{FF2B5EF4-FFF2-40B4-BE49-F238E27FC236}">
                <a16:creationId xmlns:a16="http://schemas.microsoft.com/office/drawing/2014/main" id="{5B3128AD-0626-6CD9-C9D0-D4858CE8AD06}"/>
              </a:ext>
            </a:extLst>
          </p:cNvPr>
          <p:cNvSpPr txBox="1"/>
          <p:nvPr/>
        </p:nvSpPr>
        <p:spPr>
          <a:xfrm>
            <a:off x="863600" y="4597400"/>
            <a:ext cx="4953000" cy="369332"/>
          </a:xfrm>
          <a:prstGeom prst="rect">
            <a:avLst/>
          </a:prstGeom>
          <a:noFill/>
        </p:spPr>
        <p:txBody>
          <a:bodyPr vert="horz" wrap="square" lIns="0" tIns="0" rIns="0" bIns="0" rtlCol="0">
            <a:noAutofit/>
          </a:bodyPr>
          <a:lstStyle/>
          <a:p>
            <a:pPr>
              <a:lnSpc>
                <a:spcPct val="110000"/>
              </a:lnSpc>
            </a:pPr>
            <a:r>
              <a:rPr lang="en-US" sz="1200">
                <a:solidFill>
                  <a:srgbClr val="3F4943"/>
                </a:solidFill>
                <a:latin typeface="Segoe UI" panose="020B0502040204020203" pitchFamily="34" charset="0"/>
              </a:rPr>
              <a:t>Tampering, AI anomalies, bike removed → resolve; blocked boxes → release after checking on site.</a:t>
            </a:r>
            <a:endParaRPr lang="de-DE" sz="1200">
              <a:solidFill>
                <a:srgbClr val="3F4943"/>
              </a:solidFill>
              <a:latin typeface="Segoe UI" panose="020B0502040204020203" pitchFamily="34" charset="0"/>
            </a:endParaRPr>
          </a:p>
        </p:txBody>
      </p:sp>
      <p:sp>
        <p:nvSpPr>
          <p:cNvPr id="18" name="Rechteck: abgerundete Ecken 17">
            <a:extLst>
              <a:ext uri="{FF2B5EF4-FFF2-40B4-BE49-F238E27FC236}">
                <a16:creationId xmlns:a16="http://schemas.microsoft.com/office/drawing/2014/main" id="{901890CA-3ADF-34E2-A6D2-C93BC7983531}"/>
              </a:ext>
            </a:extLst>
          </p:cNvPr>
          <p:cNvSpPr/>
          <p:nvPr/>
        </p:nvSpPr>
        <p:spPr>
          <a:xfrm>
            <a:off x="6172200" y="3937000"/>
            <a:ext cx="5410200" cy="1727200"/>
          </a:xfrm>
          <a:prstGeom prst="roundRect">
            <a:avLst>
              <a:gd name="adj" fmla="val 7353"/>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abgerundete Ecken 18">
            <a:extLst>
              <a:ext uri="{FF2B5EF4-FFF2-40B4-BE49-F238E27FC236}">
                <a16:creationId xmlns:a16="http://schemas.microsoft.com/office/drawing/2014/main" id="{D32A9200-C5F1-CE3F-0F12-D308FE1D36D4}"/>
              </a:ext>
            </a:extLst>
          </p:cNvPr>
          <p:cNvSpPr/>
          <p:nvPr/>
        </p:nvSpPr>
        <p:spPr>
          <a:xfrm>
            <a:off x="6426200" y="4165600"/>
            <a:ext cx="304800" cy="254000"/>
          </a:xfrm>
          <a:prstGeom prst="roundRect">
            <a:avLst>
              <a:gd name="adj" fmla="val 50000"/>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de-DE" sz="900" b="1">
                <a:solidFill>
                  <a:srgbClr val="FFFFFF"/>
                </a:solidFill>
                <a:latin typeface="Segoe UI Semibold" panose="020B0702040204020203" pitchFamily="34" charset="0"/>
              </a:rPr>
              <a:t>4</a:t>
            </a:r>
          </a:p>
        </p:txBody>
      </p:sp>
      <p:sp>
        <p:nvSpPr>
          <p:cNvPr id="20" name="Textfeld 19">
            <a:extLst>
              <a:ext uri="{FF2B5EF4-FFF2-40B4-BE49-F238E27FC236}">
                <a16:creationId xmlns:a16="http://schemas.microsoft.com/office/drawing/2014/main" id="{0541C698-AB23-B2FE-EC2A-D8E05FE88080}"/>
              </a:ext>
            </a:extLst>
          </p:cNvPr>
          <p:cNvSpPr txBox="1"/>
          <p:nvPr/>
        </p:nvSpPr>
        <p:spPr>
          <a:xfrm>
            <a:off x="6858000" y="4152900"/>
            <a:ext cx="4445000" cy="369332"/>
          </a:xfrm>
          <a:prstGeom prst="rect">
            <a:avLst/>
          </a:prstGeom>
          <a:noFill/>
        </p:spPr>
        <p:txBody>
          <a:bodyPr vert="horz" wrap="square" lIns="0" tIns="0" rIns="0" bIns="0" rtlCol="0">
            <a:noAutofit/>
          </a:bodyPr>
          <a:lstStyle/>
          <a:p>
            <a:pPr>
              <a:lnSpc>
                <a:spcPct val="110000"/>
              </a:lnSpc>
            </a:pPr>
            <a:r>
              <a:rPr lang="de-DE" sz="1600">
                <a:solidFill>
                  <a:srgbClr val="202A27"/>
                </a:solidFill>
                <a:latin typeface="Segoe UI Semibold" panose="020B0702040204020203" pitchFamily="34" charset="0"/>
              </a:rPr>
              <a:t>Box log (dropdown)</a:t>
            </a:r>
          </a:p>
        </p:txBody>
      </p:sp>
      <p:sp>
        <p:nvSpPr>
          <p:cNvPr id="21" name="Textfeld 20">
            <a:extLst>
              <a:ext uri="{FF2B5EF4-FFF2-40B4-BE49-F238E27FC236}">
                <a16:creationId xmlns:a16="http://schemas.microsoft.com/office/drawing/2014/main" id="{4034371B-D36A-A1A1-E813-FC798D61BC8F}"/>
              </a:ext>
            </a:extLst>
          </p:cNvPr>
          <p:cNvSpPr txBox="1"/>
          <p:nvPr/>
        </p:nvSpPr>
        <p:spPr>
          <a:xfrm>
            <a:off x="6426200" y="4597400"/>
            <a:ext cx="4953000" cy="369332"/>
          </a:xfrm>
          <a:prstGeom prst="rect">
            <a:avLst/>
          </a:prstGeom>
          <a:noFill/>
        </p:spPr>
        <p:txBody>
          <a:bodyPr vert="horz" wrap="square" lIns="0" tIns="0" rIns="0" bIns="0" rtlCol="0">
            <a:noAutofit/>
          </a:bodyPr>
          <a:lstStyle/>
          <a:p>
            <a:pPr>
              <a:lnSpc>
                <a:spcPct val="110000"/>
              </a:lnSpc>
            </a:pPr>
            <a:r>
              <a:rPr lang="en-US" sz="1200">
                <a:solidFill>
                  <a:srgbClr val="3F4943"/>
                </a:solidFill>
                <a:latin typeface="Segoe UI" panose="020B0502040204020203" pitchFamily="34" charset="0"/>
              </a:rPr>
              <a:t>"testfahrer booked Stellplatz 1 (Hackathon Halle) on 29.09.2026 at 10:41:06 – latch opened."  Filter by user.</a:t>
            </a:r>
            <a:endParaRPr lang="de-DE" sz="1200">
              <a:solidFill>
                <a:srgbClr val="3F4943"/>
              </a:solidFill>
              <a:latin typeface="Segoe UI" panose="020B0502040204020203" pitchFamily="34" charset="0"/>
            </a:endParaRPr>
          </a:p>
        </p:txBody>
      </p:sp>
      <p:sp>
        <p:nvSpPr>
          <p:cNvPr id="22" name="Textfeld 21">
            <a:extLst>
              <a:ext uri="{FF2B5EF4-FFF2-40B4-BE49-F238E27FC236}">
                <a16:creationId xmlns:a16="http://schemas.microsoft.com/office/drawing/2014/main" id="{1AADF754-082D-0734-3575-8DF314CA7CE2}"/>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23" name="Textfeld 22">
            <a:extLst>
              <a:ext uri="{FF2B5EF4-FFF2-40B4-BE49-F238E27FC236}">
                <a16:creationId xmlns:a16="http://schemas.microsoft.com/office/drawing/2014/main" id="{E540ECBC-50D7-FB7D-04CC-6A3747B806E8}"/>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8</a:t>
            </a:r>
          </a:p>
        </p:txBody>
      </p:sp>
    </p:spTree>
    <p:extLst>
      <p:ext uri="{BB962C8B-B14F-4D97-AF65-F5344CB8AC3E}">
        <p14:creationId xmlns:p14="http://schemas.microsoft.com/office/powerpoint/2010/main" val="1040470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D18A272B-E8E2-23F3-FF16-30477DAA447C}"/>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4D64A9A3-FE5F-E58D-CF63-BEC786C321AE}"/>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DESIGN PRINCIPLES</a:t>
            </a:r>
          </a:p>
        </p:txBody>
      </p:sp>
      <p:sp>
        <p:nvSpPr>
          <p:cNvPr id="4" name="Textfeld 3">
            <a:extLst>
              <a:ext uri="{FF2B5EF4-FFF2-40B4-BE49-F238E27FC236}">
                <a16:creationId xmlns:a16="http://schemas.microsoft.com/office/drawing/2014/main" id="{4B00937B-7E90-DEBE-9C34-6554B41D2752}"/>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en-US" sz="3000">
                <a:solidFill>
                  <a:srgbClr val="202A27"/>
                </a:solidFill>
                <a:latin typeface="Segoe UI Semibold" panose="020B0702040204020203" pitchFamily="34" charset="0"/>
              </a:rPr>
              <a:t>Built in from the start</a:t>
            </a:r>
            <a:endParaRPr lang="de-DE" sz="3000">
              <a:solidFill>
                <a:srgbClr val="202A27"/>
              </a:solidFill>
              <a:latin typeface="Segoe UI Semibold" panose="020B0702040204020203" pitchFamily="34" charset="0"/>
            </a:endParaRPr>
          </a:p>
        </p:txBody>
      </p:sp>
      <p:sp>
        <p:nvSpPr>
          <p:cNvPr id="5" name="Rechteck: abgerundete Ecken 4">
            <a:extLst>
              <a:ext uri="{FF2B5EF4-FFF2-40B4-BE49-F238E27FC236}">
                <a16:creationId xmlns:a16="http://schemas.microsoft.com/office/drawing/2014/main" id="{899CD9A4-8E91-CE19-7EC4-E515AAE92193}"/>
              </a:ext>
            </a:extLst>
          </p:cNvPr>
          <p:cNvSpPr/>
          <p:nvPr/>
        </p:nvSpPr>
        <p:spPr>
          <a:xfrm>
            <a:off x="609600" y="1651000"/>
            <a:ext cx="5410200" cy="1955800"/>
          </a:xfrm>
          <a:prstGeom prst="roundRect">
            <a:avLst>
              <a:gd name="adj" fmla="val 6494"/>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E70FF50E-614B-AE4D-C9AA-E963CBFD1EFC}"/>
              </a:ext>
            </a:extLst>
          </p:cNvPr>
          <p:cNvSpPr/>
          <p:nvPr/>
        </p:nvSpPr>
        <p:spPr>
          <a:xfrm>
            <a:off x="609600" y="1651000"/>
            <a:ext cx="5410200" cy="63500"/>
          </a:xfrm>
          <a:prstGeom prst="rect">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145837A0-4397-D78F-0B30-CC692FA67283}"/>
              </a:ext>
            </a:extLst>
          </p:cNvPr>
          <p:cNvSpPr txBox="1"/>
          <p:nvPr/>
        </p:nvSpPr>
        <p:spPr>
          <a:xfrm>
            <a:off x="889000" y="1930400"/>
            <a:ext cx="4826000" cy="369332"/>
          </a:xfrm>
          <a:prstGeom prst="rect">
            <a:avLst/>
          </a:prstGeom>
          <a:noFill/>
        </p:spPr>
        <p:txBody>
          <a:bodyPr vert="horz" wrap="square" lIns="0" tIns="0" rIns="0" bIns="0" rtlCol="0">
            <a:noAutofit/>
          </a:bodyPr>
          <a:lstStyle/>
          <a:p>
            <a:pPr>
              <a:lnSpc>
                <a:spcPct val="110000"/>
              </a:lnSpc>
            </a:pPr>
            <a:r>
              <a:rPr lang="de-DE">
                <a:solidFill>
                  <a:srgbClr val="202A27"/>
                </a:solidFill>
                <a:latin typeface="Segoe UI Semibold" panose="020B0702040204020203" pitchFamily="34" charset="0"/>
              </a:rPr>
              <a:t>Privacy by design</a:t>
            </a:r>
          </a:p>
        </p:txBody>
      </p:sp>
      <p:sp>
        <p:nvSpPr>
          <p:cNvPr id="8" name="Textfeld 7">
            <a:extLst>
              <a:ext uri="{FF2B5EF4-FFF2-40B4-BE49-F238E27FC236}">
                <a16:creationId xmlns:a16="http://schemas.microsoft.com/office/drawing/2014/main" id="{B033BB65-99E0-DC25-03B8-6F7F35D1D70A}"/>
              </a:ext>
            </a:extLst>
          </p:cNvPr>
          <p:cNvSpPr txBox="1"/>
          <p:nvPr/>
        </p:nvSpPr>
        <p:spPr>
          <a:xfrm>
            <a:off x="889000" y="2387600"/>
            <a:ext cx="48514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No cameras. Accounts are username + password hash only. Sensor readings are deleted after 90 days. Other users' names are visible to admins only.</a:t>
            </a:r>
            <a:endParaRPr lang="de-DE" sz="1250">
              <a:solidFill>
                <a:srgbClr val="3F4943"/>
              </a:solidFill>
              <a:latin typeface="Segoe UI" panose="020B0502040204020203" pitchFamily="34" charset="0"/>
            </a:endParaRPr>
          </a:p>
        </p:txBody>
      </p:sp>
      <p:sp>
        <p:nvSpPr>
          <p:cNvPr id="9" name="Rechteck: abgerundete Ecken 8">
            <a:extLst>
              <a:ext uri="{FF2B5EF4-FFF2-40B4-BE49-F238E27FC236}">
                <a16:creationId xmlns:a16="http://schemas.microsoft.com/office/drawing/2014/main" id="{8C3A0043-924A-93EB-D106-D32990345AC9}"/>
              </a:ext>
            </a:extLst>
          </p:cNvPr>
          <p:cNvSpPr/>
          <p:nvPr/>
        </p:nvSpPr>
        <p:spPr>
          <a:xfrm>
            <a:off x="6172200" y="1651000"/>
            <a:ext cx="5410200" cy="1955800"/>
          </a:xfrm>
          <a:prstGeom prst="roundRect">
            <a:avLst>
              <a:gd name="adj" fmla="val 6494"/>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0CD28B7-6A84-52FF-9353-1FF281E0D5D7}"/>
              </a:ext>
            </a:extLst>
          </p:cNvPr>
          <p:cNvSpPr/>
          <p:nvPr/>
        </p:nvSpPr>
        <p:spPr>
          <a:xfrm>
            <a:off x="6172200" y="1651000"/>
            <a:ext cx="5410200" cy="63500"/>
          </a:xfrm>
          <a:prstGeom prst="rect">
            <a:avLst/>
          </a:prstGeom>
          <a:solidFill>
            <a:srgbClr val="E36E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49A7DD48-579B-E9C2-9943-D76774BF6421}"/>
              </a:ext>
            </a:extLst>
          </p:cNvPr>
          <p:cNvSpPr txBox="1"/>
          <p:nvPr/>
        </p:nvSpPr>
        <p:spPr>
          <a:xfrm>
            <a:off x="6451600" y="1930400"/>
            <a:ext cx="4826000" cy="369332"/>
          </a:xfrm>
          <a:prstGeom prst="rect">
            <a:avLst/>
          </a:prstGeom>
          <a:noFill/>
        </p:spPr>
        <p:txBody>
          <a:bodyPr vert="horz" wrap="square" lIns="0" tIns="0" rIns="0" bIns="0" rtlCol="0">
            <a:noAutofit/>
          </a:bodyPr>
          <a:lstStyle/>
          <a:p>
            <a:pPr>
              <a:lnSpc>
                <a:spcPct val="110000"/>
              </a:lnSpc>
            </a:pPr>
            <a:r>
              <a:rPr lang="de-DE">
                <a:solidFill>
                  <a:srgbClr val="202A27"/>
                </a:solidFill>
                <a:latin typeface="Segoe UI Semibold" panose="020B0702040204020203" pitchFamily="34" charset="0"/>
              </a:rPr>
              <a:t>Accessible</a:t>
            </a:r>
          </a:p>
        </p:txBody>
      </p:sp>
      <p:sp>
        <p:nvSpPr>
          <p:cNvPr id="12" name="Textfeld 11">
            <a:extLst>
              <a:ext uri="{FF2B5EF4-FFF2-40B4-BE49-F238E27FC236}">
                <a16:creationId xmlns:a16="http://schemas.microsoft.com/office/drawing/2014/main" id="{4725769A-72F1-DF55-8FF8-DB9427772C31}"/>
              </a:ext>
            </a:extLst>
          </p:cNvPr>
          <p:cNvSpPr txBox="1"/>
          <p:nvPr/>
        </p:nvSpPr>
        <p:spPr>
          <a:xfrm>
            <a:off x="6451600" y="2387600"/>
            <a:ext cx="48514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Clear text instead of colour codes ("Stellplatz 1 is free"), keyboard and screen-reader friendly, light/dark mode, German, English and Dutch.</a:t>
            </a:r>
            <a:endParaRPr lang="de-DE" sz="1250">
              <a:solidFill>
                <a:srgbClr val="3F4943"/>
              </a:solidFill>
              <a:latin typeface="Segoe UI" panose="020B0502040204020203" pitchFamily="34" charset="0"/>
            </a:endParaRPr>
          </a:p>
        </p:txBody>
      </p:sp>
      <p:sp>
        <p:nvSpPr>
          <p:cNvPr id="13" name="Rechteck: abgerundete Ecken 12">
            <a:extLst>
              <a:ext uri="{FF2B5EF4-FFF2-40B4-BE49-F238E27FC236}">
                <a16:creationId xmlns:a16="http://schemas.microsoft.com/office/drawing/2014/main" id="{32FD4CB4-28AD-C039-B205-0BA17D61FD84}"/>
              </a:ext>
            </a:extLst>
          </p:cNvPr>
          <p:cNvSpPr/>
          <p:nvPr/>
        </p:nvSpPr>
        <p:spPr>
          <a:xfrm>
            <a:off x="609600" y="3810000"/>
            <a:ext cx="5410200" cy="1955800"/>
          </a:xfrm>
          <a:prstGeom prst="roundRect">
            <a:avLst>
              <a:gd name="adj" fmla="val 6494"/>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00036385-65CD-DC48-DCB8-BA59440F2129}"/>
              </a:ext>
            </a:extLst>
          </p:cNvPr>
          <p:cNvSpPr/>
          <p:nvPr/>
        </p:nvSpPr>
        <p:spPr>
          <a:xfrm>
            <a:off x="609600" y="3810000"/>
            <a:ext cx="5410200" cy="63500"/>
          </a:xfrm>
          <a:prstGeom prst="rect">
            <a:avLst/>
          </a:prstGeom>
          <a:solidFill>
            <a:srgbClr val="155F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98961DF-7E69-D25C-9E3B-E010EA22A2F1}"/>
              </a:ext>
            </a:extLst>
          </p:cNvPr>
          <p:cNvSpPr txBox="1"/>
          <p:nvPr/>
        </p:nvSpPr>
        <p:spPr>
          <a:xfrm>
            <a:off x="889000" y="4089400"/>
            <a:ext cx="4826000" cy="369332"/>
          </a:xfrm>
          <a:prstGeom prst="rect">
            <a:avLst/>
          </a:prstGeom>
          <a:noFill/>
        </p:spPr>
        <p:txBody>
          <a:bodyPr vert="horz" wrap="square" lIns="0" tIns="0" rIns="0" bIns="0" rtlCol="0">
            <a:noAutofit/>
          </a:bodyPr>
          <a:lstStyle/>
          <a:p>
            <a:pPr>
              <a:lnSpc>
                <a:spcPct val="110000"/>
              </a:lnSpc>
            </a:pPr>
            <a:r>
              <a:rPr lang="de-DE">
                <a:solidFill>
                  <a:srgbClr val="202A27"/>
                </a:solidFill>
                <a:latin typeface="Segoe UI Semibold" panose="020B0702040204020203" pitchFamily="34" charset="0"/>
              </a:rPr>
              <a:t>Safe by default</a:t>
            </a:r>
          </a:p>
        </p:txBody>
      </p:sp>
      <p:sp>
        <p:nvSpPr>
          <p:cNvPr id="16" name="Textfeld 15">
            <a:extLst>
              <a:ext uri="{FF2B5EF4-FFF2-40B4-BE49-F238E27FC236}">
                <a16:creationId xmlns:a16="http://schemas.microsoft.com/office/drawing/2014/main" id="{09EC1AF0-36BF-10F7-A3AA-02578B0C154B}"/>
              </a:ext>
            </a:extLst>
          </p:cNvPr>
          <p:cNvSpPr txBox="1"/>
          <p:nvPr/>
        </p:nvSpPr>
        <p:spPr>
          <a:xfrm>
            <a:off x="889000" y="4546600"/>
            <a:ext cx="48514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The server decides, the station executes. Only the owner opens a box. A blocked box stays closed until a human checks it.</a:t>
            </a:r>
            <a:endParaRPr lang="de-DE" sz="1250">
              <a:solidFill>
                <a:srgbClr val="3F4943"/>
              </a:solidFill>
              <a:latin typeface="Segoe UI" panose="020B0502040204020203" pitchFamily="34" charset="0"/>
            </a:endParaRPr>
          </a:p>
        </p:txBody>
      </p:sp>
      <p:sp>
        <p:nvSpPr>
          <p:cNvPr id="17" name="Rechteck: abgerundete Ecken 16">
            <a:extLst>
              <a:ext uri="{FF2B5EF4-FFF2-40B4-BE49-F238E27FC236}">
                <a16:creationId xmlns:a16="http://schemas.microsoft.com/office/drawing/2014/main" id="{4CEA6ECC-A3EA-D265-BCD0-6AC83615B98C}"/>
              </a:ext>
            </a:extLst>
          </p:cNvPr>
          <p:cNvSpPr/>
          <p:nvPr/>
        </p:nvSpPr>
        <p:spPr>
          <a:xfrm>
            <a:off x="6172200" y="3810000"/>
            <a:ext cx="5410200" cy="1955800"/>
          </a:xfrm>
          <a:prstGeom prst="roundRect">
            <a:avLst>
              <a:gd name="adj" fmla="val 6494"/>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1A0AE659-A7D3-B2C6-247D-B3745F14BCC4}"/>
              </a:ext>
            </a:extLst>
          </p:cNvPr>
          <p:cNvSpPr/>
          <p:nvPr/>
        </p:nvSpPr>
        <p:spPr>
          <a:xfrm>
            <a:off x="6172200" y="3810000"/>
            <a:ext cx="5410200" cy="63500"/>
          </a:xfrm>
          <a:prstGeom prst="rect">
            <a:avLst/>
          </a:prstGeom>
          <a:solidFill>
            <a:srgbClr val="202A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276BDC7-BDC0-BFAD-3108-893E8EAFFFDB}"/>
              </a:ext>
            </a:extLst>
          </p:cNvPr>
          <p:cNvSpPr txBox="1"/>
          <p:nvPr/>
        </p:nvSpPr>
        <p:spPr>
          <a:xfrm>
            <a:off x="6451600" y="4089400"/>
            <a:ext cx="4826000" cy="369332"/>
          </a:xfrm>
          <a:prstGeom prst="rect">
            <a:avLst/>
          </a:prstGeom>
          <a:noFill/>
        </p:spPr>
        <p:txBody>
          <a:bodyPr vert="horz" wrap="square" lIns="0" tIns="0" rIns="0" bIns="0" rtlCol="0">
            <a:noAutofit/>
          </a:bodyPr>
          <a:lstStyle/>
          <a:p>
            <a:pPr>
              <a:lnSpc>
                <a:spcPct val="110000"/>
              </a:lnSpc>
            </a:pPr>
            <a:r>
              <a:rPr lang="de-DE">
                <a:solidFill>
                  <a:srgbClr val="202A27"/>
                </a:solidFill>
                <a:latin typeface="Segoe UI Semibold" panose="020B0702040204020203" pitchFamily="34" charset="0"/>
              </a:rPr>
              <a:t>Tested</a:t>
            </a:r>
          </a:p>
        </p:txBody>
      </p:sp>
      <p:sp>
        <p:nvSpPr>
          <p:cNvPr id="20" name="Textfeld 19">
            <a:extLst>
              <a:ext uri="{FF2B5EF4-FFF2-40B4-BE49-F238E27FC236}">
                <a16:creationId xmlns:a16="http://schemas.microsoft.com/office/drawing/2014/main" id="{AE70BC44-115E-785A-2532-19C25513B22E}"/>
              </a:ext>
            </a:extLst>
          </p:cNvPr>
          <p:cNvSpPr txBox="1"/>
          <p:nvPr/>
        </p:nvSpPr>
        <p:spPr>
          <a:xfrm>
            <a:off x="6451600" y="4546600"/>
            <a:ext cx="4851400" cy="369332"/>
          </a:xfrm>
          <a:prstGeom prst="rect">
            <a:avLst/>
          </a:prstGeom>
          <a:noFill/>
        </p:spPr>
        <p:txBody>
          <a:bodyPr vert="horz" wrap="square" lIns="0" tIns="0" rIns="0" bIns="0" rtlCol="0">
            <a:noAutofit/>
          </a:bodyPr>
          <a:lstStyle/>
          <a:p>
            <a:pPr>
              <a:lnSpc>
                <a:spcPct val="110000"/>
              </a:lnSpc>
            </a:pPr>
            <a:r>
              <a:rPr lang="en-US" sz="1250">
                <a:solidFill>
                  <a:srgbClr val="3F4943"/>
                </a:solidFill>
                <a:latin typeface="Segoe UI" panose="020B0502040204020203" pitchFamily="34" charset="0"/>
              </a:rPr>
              <a:t>61 automated tests cover booking, latch, alarm, permissions, timeouts, stations and the admin log.</a:t>
            </a:r>
            <a:endParaRPr lang="de-DE" sz="1250">
              <a:solidFill>
                <a:srgbClr val="3F4943"/>
              </a:solidFill>
              <a:latin typeface="Segoe UI" panose="020B0502040204020203" pitchFamily="34" charset="0"/>
            </a:endParaRPr>
          </a:p>
        </p:txBody>
      </p:sp>
      <p:sp>
        <p:nvSpPr>
          <p:cNvPr id="21" name="Textfeld 20">
            <a:extLst>
              <a:ext uri="{FF2B5EF4-FFF2-40B4-BE49-F238E27FC236}">
                <a16:creationId xmlns:a16="http://schemas.microsoft.com/office/drawing/2014/main" id="{D36DA5A2-2935-C915-8F95-FF135856AEF9}"/>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22" name="Textfeld 21">
            <a:extLst>
              <a:ext uri="{FF2B5EF4-FFF2-40B4-BE49-F238E27FC236}">
                <a16:creationId xmlns:a16="http://schemas.microsoft.com/office/drawing/2014/main" id="{7FAF90DA-4CF2-D8E7-F4CC-203ACBBEDAF8}"/>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9</a:t>
            </a:r>
          </a:p>
        </p:txBody>
      </p:sp>
    </p:spTree>
    <p:extLst>
      <p:ext uri="{BB962C8B-B14F-4D97-AF65-F5344CB8AC3E}">
        <p14:creationId xmlns:p14="http://schemas.microsoft.com/office/powerpoint/2010/main" val="3791517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5F1"/>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E9944BB5-5737-09CF-E68D-B3C25DCAF5D7}"/>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C10687F9-021E-3BB7-433B-BD33F0D96767}"/>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1D7656"/>
                </a:solidFill>
                <a:latin typeface="Segoe UI Semibold" panose="020B0702040204020203" pitchFamily="34" charset="0"/>
              </a:rPr>
              <a:t>UNDER THE HOOD</a:t>
            </a:r>
          </a:p>
        </p:txBody>
      </p:sp>
      <p:sp>
        <p:nvSpPr>
          <p:cNvPr id="4" name="Textfeld 3">
            <a:extLst>
              <a:ext uri="{FF2B5EF4-FFF2-40B4-BE49-F238E27FC236}">
                <a16:creationId xmlns:a16="http://schemas.microsoft.com/office/drawing/2014/main" id="{16CABAF4-30ED-D28B-5D2D-C44C935F6FAE}"/>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en-US" sz="3000">
                <a:solidFill>
                  <a:srgbClr val="202A27"/>
                </a:solidFill>
                <a:latin typeface="Segoe UI Semibold" panose="020B0702040204020203" pitchFamily="34" charset="0"/>
              </a:rPr>
              <a:t>How the journey is powered</a:t>
            </a:r>
            <a:endParaRPr lang="de-DE" sz="3000">
              <a:solidFill>
                <a:srgbClr val="202A27"/>
              </a:solidFill>
              <a:latin typeface="Segoe UI Semibold" panose="020B0702040204020203" pitchFamily="34" charset="0"/>
            </a:endParaRPr>
          </a:p>
        </p:txBody>
      </p:sp>
      <p:sp>
        <p:nvSpPr>
          <p:cNvPr id="5" name="Textfeld 4">
            <a:extLst>
              <a:ext uri="{FF2B5EF4-FFF2-40B4-BE49-F238E27FC236}">
                <a16:creationId xmlns:a16="http://schemas.microsoft.com/office/drawing/2014/main" id="{2F746D9C-398D-C328-960E-3346D3230BB5}"/>
              </a:ext>
            </a:extLst>
          </p:cNvPr>
          <p:cNvSpPr txBox="1"/>
          <p:nvPr/>
        </p:nvSpPr>
        <p:spPr>
          <a:xfrm>
            <a:off x="609600" y="1295400"/>
            <a:ext cx="10922000" cy="369332"/>
          </a:xfrm>
          <a:prstGeom prst="rect">
            <a:avLst/>
          </a:prstGeom>
          <a:noFill/>
        </p:spPr>
        <p:txBody>
          <a:bodyPr vert="horz" wrap="square" lIns="0" tIns="0" rIns="0" bIns="0" rtlCol="0">
            <a:noAutofit/>
          </a:bodyPr>
          <a:lstStyle/>
          <a:p>
            <a:pPr>
              <a:lnSpc>
                <a:spcPct val="110000"/>
              </a:lnSpc>
            </a:pPr>
            <a:r>
              <a:rPr lang="en-US" sz="1350">
                <a:solidFill>
                  <a:srgbClr val="3F4943"/>
                </a:solidFill>
                <a:latin typeface="Segoe UI" panose="020B0502040204020203" pitchFamily="34" charset="0"/>
              </a:rPr>
              <a:t>One rule keeps it simple: the station measures, the server decides, the app shows.</a:t>
            </a:r>
            <a:endParaRPr lang="de-DE" sz="1350">
              <a:solidFill>
                <a:srgbClr val="3F4943"/>
              </a:solidFill>
              <a:latin typeface="Segoe UI" panose="020B0502040204020203" pitchFamily="34" charset="0"/>
            </a:endParaRPr>
          </a:p>
        </p:txBody>
      </p:sp>
      <p:sp>
        <p:nvSpPr>
          <p:cNvPr id="6" name="Rechteck: abgerundete Ecken 5">
            <a:extLst>
              <a:ext uri="{FF2B5EF4-FFF2-40B4-BE49-F238E27FC236}">
                <a16:creationId xmlns:a16="http://schemas.microsoft.com/office/drawing/2014/main" id="{8CAE8CD7-B783-5EF4-1903-94E90F709AE3}"/>
              </a:ext>
            </a:extLst>
          </p:cNvPr>
          <p:cNvSpPr/>
          <p:nvPr/>
        </p:nvSpPr>
        <p:spPr>
          <a:xfrm>
            <a:off x="609600" y="2032000"/>
            <a:ext cx="3352800" cy="2159000"/>
          </a:xfrm>
          <a:prstGeom prst="roundRect">
            <a:avLst>
              <a:gd name="adj" fmla="val 5882"/>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DEFBA072-57CE-C725-DADC-AD7C2832BEFB}"/>
              </a:ext>
            </a:extLst>
          </p:cNvPr>
          <p:cNvSpPr txBox="1"/>
          <p:nvPr/>
        </p:nvSpPr>
        <p:spPr>
          <a:xfrm>
            <a:off x="889000" y="2260600"/>
            <a:ext cx="2794000" cy="369332"/>
          </a:xfrm>
          <a:prstGeom prst="rect">
            <a:avLst/>
          </a:prstGeom>
          <a:noFill/>
        </p:spPr>
        <p:txBody>
          <a:bodyPr vert="horz" wrap="square" lIns="0" tIns="0" rIns="0" bIns="0" rtlCol="0">
            <a:noAutofit/>
          </a:bodyPr>
          <a:lstStyle/>
          <a:p>
            <a:pPr>
              <a:lnSpc>
                <a:spcPct val="110000"/>
              </a:lnSpc>
            </a:pPr>
            <a:r>
              <a:rPr lang="de-DE" sz="1900">
                <a:solidFill>
                  <a:srgbClr val="202A27"/>
                </a:solidFill>
                <a:latin typeface="Segoe UI Semibold" panose="020B0702040204020203" pitchFamily="34" charset="0"/>
              </a:rPr>
              <a:t>Station</a:t>
            </a:r>
          </a:p>
        </p:txBody>
      </p:sp>
      <p:sp>
        <p:nvSpPr>
          <p:cNvPr id="8" name="Textfeld 7">
            <a:extLst>
              <a:ext uri="{FF2B5EF4-FFF2-40B4-BE49-F238E27FC236}">
                <a16:creationId xmlns:a16="http://schemas.microsoft.com/office/drawing/2014/main" id="{E696C46B-9D4B-7483-F189-1A5D96578F73}"/>
              </a:ext>
            </a:extLst>
          </p:cNvPr>
          <p:cNvSpPr txBox="1"/>
          <p:nvPr/>
        </p:nvSpPr>
        <p:spPr>
          <a:xfrm>
            <a:off x="889000" y="2717800"/>
            <a:ext cx="2794000" cy="369332"/>
          </a:xfrm>
          <a:prstGeom prst="rect">
            <a:avLst/>
          </a:prstGeom>
          <a:noFill/>
        </p:spPr>
        <p:txBody>
          <a:bodyPr vert="horz" wrap="square" lIns="0" tIns="0" rIns="0" bIns="0" rtlCol="0">
            <a:noAutofit/>
          </a:bodyPr>
          <a:lstStyle/>
          <a:p>
            <a:pPr>
              <a:lnSpc>
                <a:spcPct val="110000"/>
              </a:lnSpc>
            </a:pPr>
            <a:r>
              <a:rPr lang="de-DE" sz="1250">
                <a:solidFill>
                  <a:srgbClr val="3F4943"/>
                </a:solidFill>
                <a:latin typeface="Segoe UI" panose="020B0502040204020203" pitchFamily="34" charset="0"/>
              </a:rPr>
              <a:t>Raspberry Pi 5
HC-SR04 ultrasonic
Servo latch · green LED
parking_sensor.py</a:t>
            </a:r>
          </a:p>
        </p:txBody>
      </p:sp>
      <p:sp>
        <p:nvSpPr>
          <p:cNvPr id="9" name="Textfeld 8">
            <a:extLst>
              <a:ext uri="{FF2B5EF4-FFF2-40B4-BE49-F238E27FC236}">
                <a16:creationId xmlns:a16="http://schemas.microsoft.com/office/drawing/2014/main" id="{33C019EF-7C7C-EDBE-69DB-03C6767CDDD7}"/>
              </a:ext>
            </a:extLst>
          </p:cNvPr>
          <p:cNvSpPr txBox="1"/>
          <p:nvPr/>
        </p:nvSpPr>
        <p:spPr>
          <a:xfrm>
            <a:off x="4013200" y="2870200"/>
            <a:ext cx="381000" cy="381000"/>
          </a:xfrm>
          <a:prstGeom prst="rect">
            <a:avLst/>
          </a:prstGeom>
          <a:noFill/>
        </p:spPr>
        <p:txBody>
          <a:bodyPr vert="horz" wrap="square" lIns="0" tIns="0" rIns="0" bIns="0" rtlCol="0">
            <a:noAutofit/>
          </a:bodyPr>
          <a:lstStyle/>
          <a:p>
            <a:pPr algn="ctr">
              <a:lnSpc>
                <a:spcPct val="110000"/>
              </a:lnSpc>
            </a:pPr>
            <a:r>
              <a:rPr lang="de-DE" sz="2200">
                <a:solidFill>
                  <a:srgbClr val="1D7656"/>
                </a:solidFill>
                <a:latin typeface="Segoe UI Semibold" panose="020B0702040204020203" pitchFamily="34" charset="0"/>
              </a:rPr>
              <a:t>↔</a:t>
            </a:r>
          </a:p>
        </p:txBody>
      </p:sp>
      <p:sp>
        <p:nvSpPr>
          <p:cNvPr id="10" name="Rechteck: abgerundete Ecken 9">
            <a:extLst>
              <a:ext uri="{FF2B5EF4-FFF2-40B4-BE49-F238E27FC236}">
                <a16:creationId xmlns:a16="http://schemas.microsoft.com/office/drawing/2014/main" id="{315745DB-AB6A-C2B8-1E5F-FA0F5C1A57C3}"/>
              </a:ext>
            </a:extLst>
          </p:cNvPr>
          <p:cNvSpPr/>
          <p:nvPr/>
        </p:nvSpPr>
        <p:spPr>
          <a:xfrm>
            <a:off x="4419600" y="2032000"/>
            <a:ext cx="3352800" cy="2159000"/>
          </a:xfrm>
          <a:prstGeom prst="roundRect">
            <a:avLst>
              <a:gd name="adj" fmla="val 5882"/>
            </a:avLst>
          </a:prstGeom>
          <a:solidFill>
            <a:srgbClr val="202A27"/>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585AB94C-4996-27C9-ACA4-6F84A41A011F}"/>
              </a:ext>
            </a:extLst>
          </p:cNvPr>
          <p:cNvSpPr txBox="1"/>
          <p:nvPr/>
        </p:nvSpPr>
        <p:spPr>
          <a:xfrm>
            <a:off x="4699000" y="2260600"/>
            <a:ext cx="2794000" cy="369332"/>
          </a:xfrm>
          <a:prstGeom prst="rect">
            <a:avLst/>
          </a:prstGeom>
          <a:noFill/>
        </p:spPr>
        <p:txBody>
          <a:bodyPr vert="horz" wrap="square" lIns="0" tIns="0" rIns="0" bIns="0" rtlCol="0">
            <a:noAutofit/>
          </a:bodyPr>
          <a:lstStyle/>
          <a:p>
            <a:pPr>
              <a:lnSpc>
                <a:spcPct val="110000"/>
              </a:lnSpc>
            </a:pPr>
            <a:r>
              <a:rPr lang="de-DE" sz="1900">
                <a:solidFill>
                  <a:srgbClr val="FFFFFF"/>
                </a:solidFill>
                <a:latin typeface="Segoe UI Semibold" panose="020B0702040204020203" pitchFamily="34" charset="0"/>
              </a:rPr>
              <a:t>Server</a:t>
            </a:r>
          </a:p>
        </p:txBody>
      </p:sp>
      <p:sp>
        <p:nvSpPr>
          <p:cNvPr id="12" name="Textfeld 11">
            <a:extLst>
              <a:ext uri="{FF2B5EF4-FFF2-40B4-BE49-F238E27FC236}">
                <a16:creationId xmlns:a16="http://schemas.microsoft.com/office/drawing/2014/main" id="{CEBA630A-6ADC-385E-D0C9-C463133F9727}"/>
              </a:ext>
            </a:extLst>
          </p:cNvPr>
          <p:cNvSpPr txBox="1"/>
          <p:nvPr/>
        </p:nvSpPr>
        <p:spPr>
          <a:xfrm>
            <a:off x="4699000" y="2717800"/>
            <a:ext cx="2794000" cy="369332"/>
          </a:xfrm>
          <a:prstGeom prst="rect">
            <a:avLst/>
          </a:prstGeom>
          <a:noFill/>
        </p:spPr>
        <p:txBody>
          <a:bodyPr vert="horz" wrap="square" lIns="0" tIns="0" rIns="0" bIns="0" rtlCol="0">
            <a:noAutofit/>
          </a:bodyPr>
          <a:lstStyle/>
          <a:p>
            <a:pPr>
              <a:lnSpc>
                <a:spcPct val="110000"/>
              </a:lnSpc>
            </a:pPr>
            <a:r>
              <a:rPr lang="en-US" sz="1250">
                <a:solidFill>
                  <a:srgbClr val="DFE6E1"/>
                </a:solidFill>
                <a:latin typeface="Segoe UI" panose="020B0502040204020203" pitchFamily="34" charset="0"/>
              </a:rPr>
              <a:t>ASP.NET Core 10 (C#)
Box state machine
SQLite · background jobs
port 8080</a:t>
            </a:r>
            <a:endParaRPr lang="de-DE" sz="1250">
              <a:solidFill>
                <a:srgbClr val="DFE6E1"/>
              </a:solidFill>
              <a:latin typeface="Segoe UI" panose="020B0502040204020203" pitchFamily="34" charset="0"/>
            </a:endParaRPr>
          </a:p>
        </p:txBody>
      </p:sp>
      <p:sp>
        <p:nvSpPr>
          <p:cNvPr id="13" name="Textfeld 12">
            <a:extLst>
              <a:ext uri="{FF2B5EF4-FFF2-40B4-BE49-F238E27FC236}">
                <a16:creationId xmlns:a16="http://schemas.microsoft.com/office/drawing/2014/main" id="{0CE8221A-025F-BBAC-68E1-CA6A9F9DC766}"/>
              </a:ext>
            </a:extLst>
          </p:cNvPr>
          <p:cNvSpPr txBox="1"/>
          <p:nvPr/>
        </p:nvSpPr>
        <p:spPr>
          <a:xfrm>
            <a:off x="7823200" y="2870200"/>
            <a:ext cx="381000" cy="381000"/>
          </a:xfrm>
          <a:prstGeom prst="rect">
            <a:avLst/>
          </a:prstGeom>
          <a:noFill/>
        </p:spPr>
        <p:txBody>
          <a:bodyPr vert="horz" wrap="square" lIns="0" tIns="0" rIns="0" bIns="0" rtlCol="0">
            <a:noAutofit/>
          </a:bodyPr>
          <a:lstStyle/>
          <a:p>
            <a:pPr algn="ctr">
              <a:lnSpc>
                <a:spcPct val="110000"/>
              </a:lnSpc>
            </a:pPr>
            <a:r>
              <a:rPr lang="de-DE" sz="2200">
                <a:solidFill>
                  <a:srgbClr val="1D7656"/>
                </a:solidFill>
                <a:latin typeface="Segoe UI Semibold" panose="020B0702040204020203" pitchFamily="34" charset="0"/>
              </a:rPr>
              <a:t>↔</a:t>
            </a:r>
          </a:p>
        </p:txBody>
      </p:sp>
      <p:sp>
        <p:nvSpPr>
          <p:cNvPr id="14" name="Rechteck: abgerundete Ecken 13">
            <a:extLst>
              <a:ext uri="{FF2B5EF4-FFF2-40B4-BE49-F238E27FC236}">
                <a16:creationId xmlns:a16="http://schemas.microsoft.com/office/drawing/2014/main" id="{DA9BAA88-EF17-9EF1-7B9A-33BB67E4915C}"/>
              </a:ext>
            </a:extLst>
          </p:cNvPr>
          <p:cNvSpPr/>
          <p:nvPr/>
        </p:nvSpPr>
        <p:spPr>
          <a:xfrm>
            <a:off x="8229600" y="2032000"/>
            <a:ext cx="3352800" cy="2159000"/>
          </a:xfrm>
          <a:prstGeom prst="roundRect">
            <a:avLst>
              <a:gd name="adj" fmla="val 5882"/>
            </a:avLst>
          </a:prstGeom>
          <a:solidFill>
            <a:srgbClr val="FFFFFF"/>
          </a:solidFill>
          <a:ln w="12700">
            <a:solidFill>
              <a:srgbClr val="E5E9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E32CFB69-F61F-B858-873C-B249D5AFDEE5}"/>
              </a:ext>
            </a:extLst>
          </p:cNvPr>
          <p:cNvSpPr txBox="1"/>
          <p:nvPr/>
        </p:nvSpPr>
        <p:spPr>
          <a:xfrm>
            <a:off x="8509000" y="2260600"/>
            <a:ext cx="2794000" cy="369332"/>
          </a:xfrm>
          <a:prstGeom prst="rect">
            <a:avLst/>
          </a:prstGeom>
          <a:noFill/>
        </p:spPr>
        <p:txBody>
          <a:bodyPr vert="horz" wrap="square" lIns="0" tIns="0" rIns="0" bIns="0" rtlCol="0">
            <a:noAutofit/>
          </a:bodyPr>
          <a:lstStyle/>
          <a:p>
            <a:pPr>
              <a:lnSpc>
                <a:spcPct val="110000"/>
              </a:lnSpc>
            </a:pPr>
            <a:r>
              <a:rPr lang="de-DE" sz="1900">
                <a:solidFill>
                  <a:srgbClr val="202A27"/>
                </a:solidFill>
                <a:latin typeface="Segoe UI Semibold" panose="020B0702040204020203" pitchFamily="34" charset="0"/>
              </a:rPr>
              <a:t>Web app</a:t>
            </a:r>
          </a:p>
        </p:txBody>
      </p:sp>
      <p:sp>
        <p:nvSpPr>
          <p:cNvPr id="16" name="Textfeld 15">
            <a:extLst>
              <a:ext uri="{FF2B5EF4-FFF2-40B4-BE49-F238E27FC236}">
                <a16:creationId xmlns:a16="http://schemas.microsoft.com/office/drawing/2014/main" id="{A0DF453F-3FF3-F2CA-91CF-F99F5AC8F480}"/>
              </a:ext>
            </a:extLst>
          </p:cNvPr>
          <p:cNvSpPr txBox="1"/>
          <p:nvPr/>
        </p:nvSpPr>
        <p:spPr>
          <a:xfrm>
            <a:off x="8509000" y="2717800"/>
            <a:ext cx="2794000" cy="369332"/>
          </a:xfrm>
          <a:prstGeom prst="rect">
            <a:avLst/>
          </a:prstGeom>
          <a:noFill/>
        </p:spPr>
        <p:txBody>
          <a:bodyPr vert="horz" wrap="square" lIns="0" tIns="0" rIns="0" bIns="0" rtlCol="0">
            <a:noAutofit/>
          </a:bodyPr>
          <a:lstStyle/>
          <a:p>
            <a:pPr>
              <a:lnSpc>
                <a:spcPct val="110000"/>
              </a:lnSpc>
            </a:pPr>
            <a:r>
              <a:rPr lang="de-DE" sz="1250">
                <a:solidFill>
                  <a:srgbClr val="3F4943"/>
                </a:solidFill>
                <a:latin typeface="Segoe UI" panose="020B0502040204020203" pitchFamily="34" charset="0"/>
              </a:rPr>
              <a:t>React + TypeScript
User &amp; admin pages
refresh every 2–3 s
DE · EN · NL</a:t>
            </a:r>
          </a:p>
        </p:txBody>
      </p:sp>
      <p:sp>
        <p:nvSpPr>
          <p:cNvPr id="17" name="Textfeld 16">
            <a:extLst>
              <a:ext uri="{FF2B5EF4-FFF2-40B4-BE49-F238E27FC236}">
                <a16:creationId xmlns:a16="http://schemas.microsoft.com/office/drawing/2014/main" id="{5D7CA011-9F7F-1DDD-6165-6841E2ACD1AE}"/>
              </a:ext>
            </a:extLst>
          </p:cNvPr>
          <p:cNvSpPr txBox="1"/>
          <p:nvPr/>
        </p:nvSpPr>
        <p:spPr>
          <a:xfrm>
            <a:off x="609600" y="4445000"/>
            <a:ext cx="5334000" cy="369332"/>
          </a:xfrm>
          <a:prstGeom prst="rect">
            <a:avLst/>
          </a:prstGeom>
          <a:noFill/>
        </p:spPr>
        <p:txBody>
          <a:bodyPr vert="horz" wrap="square" lIns="0" tIns="0" rIns="0" bIns="0" rtlCol="0">
            <a:noAutofit/>
          </a:bodyPr>
          <a:lstStyle/>
          <a:p>
            <a:pPr>
              <a:lnSpc>
                <a:spcPct val="110000"/>
              </a:lnSpc>
            </a:pPr>
            <a:r>
              <a:rPr lang="de-DE" sz="1200">
                <a:solidFill>
                  <a:srgbClr val="202A27"/>
                </a:solidFill>
                <a:latin typeface="Segoe UI Semibold" panose="020B0702040204020203" pitchFamily="34" charset="0"/>
              </a:rPr>
              <a:t>Station ↔ Server</a:t>
            </a:r>
          </a:p>
        </p:txBody>
      </p:sp>
      <p:sp>
        <p:nvSpPr>
          <p:cNvPr id="18" name="Textfeld 17">
            <a:extLst>
              <a:ext uri="{FF2B5EF4-FFF2-40B4-BE49-F238E27FC236}">
                <a16:creationId xmlns:a16="http://schemas.microsoft.com/office/drawing/2014/main" id="{EF3E94EA-2844-196A-F394-A78CD52FBBB2}"/>
              </a:ext>
            </a:extLst>
          </p:cNvPr>
          <p:cNvSpPr txBox="1"/>
          <p:nvPr/>
        </p:nvSpPr>
        <p:spPr>
          <a:xfrm>
            <a:off x="609600" y="4699000"/>
            <a:ext cx="5334000" cy="369332"/>
          </a:xfrm>
          <a:prstGeom prst="rect">
            <a:avLst/>
          </a:prstGeom>
          <a:noFill/>
        </p:spPr>
        <p:txBody>
          <a:bodyPr vert="horz" wrap="square" lIns="0" tIns="0" rIns="0" bIns="0" rtlCol="0">
            <a:noAutofit/>
          </a:bodyPr>
          <a:lstStyle/>
          <a:p>
            <a:pPr>
              <a:lnSpc>
                <a:spcPct val="110000"/>
              </a:lnSpc>
            </a:pPr>
            <a:r>
              <a:rPr lang="de-DE" sz="1150">
                <a:solidFill>
                  <a:srgbClr val="3F4943"/>
                </a:solidFill>
                <a:latin typeface="Segoe UI" panose="020B0502040204020203" pitchFamily="34" charset="0"/>
              </a:rPr>
              <a:t>Every second: POST /api/sensor-data {slotId, distance} with API key → answer {boxState, lockOpen}.</a:t>
            </a:r>
          </a:p>
        </p:txBody>
      </p:sp>
      <p:sp>
        <p:nvSpPr>
          <p:cNvPr id="19" name="Textfeld 18">
            <a:extLst>
              <a:ext uri="{FF2B5EF4-FFF2-40B4-BE49-F238E27FC236}">
                <a16:creationId xmlns:a16="http://schemas.microsoft.com/office/drawing/2014/main" id="{B6D3467B-5BBA-3789-4556-F4486EC106AB}"/>
              </a:ext>
            </a:extLst>
          </p:cNvPr>
          <p:cNvSpPr txBox="1"/>
          <p:nvPr/>
        </p:nvSpPr>
        <p:spPr>
          <a:xfrm>
            <a:off x="6248400" y="4445000"/>
            <a:ext cx="5334000" cy="369332"/>
          </a:xfrm>
          <a:prstGeom prst="rect">
            <a:avLst/>
          </a:prstGeom>
          <a:noFill/>
        </p:spPr>
        <p:txBody>
          <a:bodyPr vert="horz" wrap="square" lIns="0" tIns="0" rIns="0" bIns="0" rtlCol="0">
            <a:noAutofit/>
          </a:bodyPr>
          <a:lstStyle/>
          <a:p>
            <a:pPr>
              <a:lnSpc>
                <a:spcPct val="110000"/>
              </a:lnSpc>
            </a:pPr>
            <a:r>
              <a:rPr lang="de-DE" sz="1200">
                <a:solidFill>
                  <a:srgbClr val="202A27"/>
                </a:solidFill>
                <a:latin typeface="Segoe UI Semibold" panose="020B0702040204020203" pitchFamily="34" charset="0"/>
              </a:rPr>
              <a:t>Server ↔ Web app</a:t>
            </a:r>
          </a:p>
        </p:txBody>
      </p:sp>
      <p:sp>
        <p:nvSpPr>
          <p:cNvPr id="20" name="Textfeld 19">
            <a:extLst>
              <a:ext uri="{FF2B5EF4-FFF2-40B4-BE49-F238E27FC236}">
                <a16:creationId xmlns:a16="http://schemas.microsoft.com/office/drawing/2014/main" id="{E20F2874-7811-FE62-AC9B-C6057CB22EAB}"/>
              </a:ext>
            </a:extLst>
          </p:cNvPr>
          <p:cNvSpPr txBox="1"/>
          <p:nvPr/>
        </p:nvSpPr>
        <p:spPr>
          <a:xfrm>
            <a:off x="6248400" y="4699000"/>
            <a:ext cx="5334000" cy="369332"/>
          </a:xfrm>
          <a:prstGeom prst="rect">
            <a:avLst/>
          </a:prstGeom>
          <a:noFill/>
        </p:spPr>
        <p:txBody>
          <a:bodyPr vert="horz" wrap="square" lIns="0" tIns="0" rIns="0" bIns="0" rtlCol="0">
            <a:noAutofit/>
          </a:bodyPr>
          <a:lstStyle/>
          <a:p>
            <a:pPr>
              <a:lnSpc>
                <a:spcPct val="110000"/>
              </a:lnSpc>
            </a:pPr>
            <a:r>
              <a:rPr lang="en-US" sz="1150">
                <a:solidFill>
                  <a:srgbClr val="3F4943"/>
                </a:solidFill>
                <a:latin typeface="Segoe UI" panose="020B0502040204020203" pitchFamily="34" charset="0"/>
              </a:rPr>
              <a:t>REST + JWT: book, cancel, pick up; admin: occupancy, stations, alerts, log.</a:t>
            </a:r>
            <a:endParaRPr lang="de-DE" sz="1150">
              <a:solidFill>
                <a:srgbClr val="3F4943"/>
              </a:solidFill>
              <a:latin typeface="Segoe UI" panose="020B0502040204020203" pitchFamily="34" charset="0"/>
            </a:endParaRPr>
          </a:p>
        </p:txBody>
      </p:sp>
      <p:sp>
        <p:nvSpPr>
          <p:cNvPr id="21" name="Rechteck: abgerundete Ecken 20">
            <a:extLst>
              <a:ext uri="{FF2B5EF4-FFF2-40B4-BE49-F238E27FC236}">
                <a16:creationId xmlns:a16="http://schemas.microsoft.com/office/drawing/2014/main" id="{C8C3FA04-7D97-ED7B-B5DB-E90484A5FC29}"/>
              </a:ext>
            </a:extLst>
          </p:cNvPr>
          <p:cNvSpPr/>
          <p:nvPr/>
        </p:nvSpPr>
        <p:spPr>
          <a:xfrm>
            <a:off x="609600" y="5588000"/>
            <a:ext cx="10972800" cy="254000"/>
          </a:xfrm>
          <a:prstGeom prst="roundRect">
            <a:avLst>
              <a:gd name="adj" fmla="val 50000"/>
            </a:avLst>
          </a:prstGeom>
          <a:solidFill>
            <a:srgbClr val="E2F1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en-US" sz="900" b="1">
                <a:solidFill>
                  <a:srgbClr val="155F44"/>
                </a:solidFill>
                <a:latin typeface="Segoe UI Semibold" panose="020B0702040204020203" pitchFamily="34" charset="0"/>
              </a:rPr>
              <a:t>States: Free → OpenForParking → Locked → OpenForPickup → Free   ·   Locked → Blocked (alarm) → Free</a:t>
            </a:r>
            <a:endParaRPr lang="de-DE" sz="900" b="1">
              <a:solidFill>
                <a:srgbClr val="155F44"/>
              </a:solidFill>
              <a:latin typeface="Segoe UI Semibold" panose="020B0702040204020203" pitchFamily="34" charset="0"/>
            </a:endParaRPr>
          </a:p>
        </p:txBody>
      </p:sp>
      <p:sp>
        <p:nvSpPr>
          <p:cNvPr id="22" name="Textfeld 21">
            <a:extLst>
              <a:ext uri="{FF2B5EF4-FFF2-40B4-BE49-F238E27FC236}">
                <a16:creationId xmlns:a16="http://schemas.microsoft.com/office/drawing/2014/main" id="{E3035E81-A1E5-EBB2-25EC-D62A0C66D50B}"/>
              </a:ext>
            </a:extLst>
          </p:cNvPr>
          <p:cNvSpPr txBox="1"/>
          <p:nvPr/>
        </p:nvSpPr>
        <p:spPr>
          <a:xfrm>
            <a:off x="609600" y="6477000"/>
            <a:ext cx="6350000" cy="369332"/>
          </a:xfrm>
          <a:prstGeom prst="rect">
            <a:avLst/>
          </a:prstGeom>
          <a:noFill/>
        </p:spPr>
        <p:txBody>
          <a:bodyPr vert="horz" wrap="square" lIns="0" tIns="0" rIns="0" bIns="0" rtlCol="0">
            <a:noAutofit/>
          </a:bodyPr>
          <a:lstStyle/>
          <a:p>
            <a:pPr>
              <a:lnSpc>
                <a:spcPct val="110000"/>
              </a:lnSpc>
            </a:pPr>
            <a:r>
              <a:rPr lang="de-DE" sz="900">
                <a:solidFill>
                  <a:srgbClr val="5D6660"/>
                </a:solidFill>
                <a:latin typeface="Segoe UI" panose="020B0502040204020203" pitchFamily="34" charset="0"/>
              </a:rPr>
              <a:t>Smart Bikestation · User journey</a:t>
            </a:r>
          </a:p>
        </p:txBody>
      </p:sp>
      <p:sp>
        <p:nvSpPr>
          <p:cNvPr id="23" name="Textfeld 22">
            <a:extLst>
              <a:ext uri="{FF2B5EF4-FFF2-40B4-BE49-F238E27FC236}">
                <a16:creationId xmlns:a16="http://schemas.microsoft.com/office/drawing/2014/main" id="{A72A2645-E916-5535-D833-454AB4FF63D9}"/>
              </a:ext>
            </a:extLst>
          </p:cNvPr>
          <p:cNvSpPr txBox="1"/>
          <p:nvPr/>
        </p:nvSpPr>
        <p:spPr>
          <a:xfrm>
            <a:off x="9652000" y="6477000"/>
            <a:ext cx="1930400" cy="369332"/>
          </a:xfrm>
          <a:prstGeom prst="rect">
            <a:avLst/>
          </a:prstGeom>
          <a:noFill/>
        </p:spPr>
        <p:txBody>
          <a:bodyPr vert="horz" wrap="square" lIns="0" tIns="0" rIns="0" bIns="0" rtlCol="0">
            <a:noAutofit/>
          </a:bodyPr>
          <a:lstStyle/>
          <a:p>
            <a:pPr algn="r">
              <a:lnSpc>
                <a:spcPct val="110000"/>
              </a:lnSpc>
            </a:pPr>
            <a:r>
              <a:rPr lang="de-DE" sz="900">
                <a:solidFill>
                  <a:srgbClr val="5D6660"/>
                </a:solidFill>
                <a:latin typeface="Segoe UI" panose="020B0502040204020203" pitchFamily="34" charset="0"/>
              </a:rPr>
              <a:t>10</a:t>
            </a:r>
          </a:p>
        </p:txBody>
      </p:sp>
    </p:spTree>
    <p:extLst>
      <p:ext uri="{BB962C8B-B14F-4D97-AF65-F5344CB8AC3E}">
        <p14:creationId xmlns:p14="http://schemas.microsoft.com/office/powerpoint/2010/main" val="1116327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2A27"/>
        </a:solidFill>
        <a:effectLst/>
      </p:bgPr>
    </p:bg>
    <p:spTree>
      <p:nvGrpSpPr>
        <p:cNvPr id="1" name=""/>
        <p:cNvGrpSpPr/>
        <p:nvPr/>
      </p:nvGrpSpPr>
      <p:grpSpPr>
        <a:xfrm>
          <a:off x="0" y="0"/>
          <a:ext cx="0" cy="0"/>
          <a:chOff x="0" y="0"/>
          <a:chExt cx="0" cy="0"/>
        </a:xfrm>
      </p:grpSpPr>
      <p:cxnSp>
        <p:nvCxnSpPr>
          <p:cNvPr id="2" name="Gerader Verbinder 1">
            <a:extLst>
              <a:ext uri="{FF2B5EF4-FFF2-40B4-BE49-F238E27FC236}">
                <a16:creationId xmlns:a16="http://schemas.microsoft.com/office/drawing/2014/main" id="{8E216CDE-BB44-E1E9-8488-F0DCC0708CAD}"/>
              </a:ext>
            </a:extLst>
          </p:cNvPr>
          <p:cNvCxnSpPr/>
          <p:nvPr/>
        </p:nvCxnSpPr>
        <p:spPr>
          <a:xfrm>
            <a:off x="609600" y="520700"/>
            <a:ext cx="304800" cy="0"/>
          </a:xfrm>
          <a:prstGeom prst="line">
            <a:avLst/>
          </a:prstGeom>
          <a:ln w="25400">
            <a:solidFill>
              <a:srgbClr val="E36E4E"/>
            </a:solidFill>
          </a:ln>
        </p:spPr>
        <p:style>
          <a:lnRef idx="2">
            <a:schemeClr val="accent1"/>
          </a:lnRef>
          <a:fillRef idx="0">
            <a:schemeClr val="accent1"/>
          </a:fillRef>
          <a:effectRef idx="1">
            <a:schemeClr val="accent1"/>
          </a:effectRef>
          <a:fontRef idx="minor">
            <a:schemeClr val="tx1"/>
          </a:fontRef>
        </p:style>
      </p:cxnSp>
      <p:sp>
        <p:nvSpPr>
          <p:cNvPr id="3" name="Textfeld 2">
            <a:extLst>
              <a:ext uri="{FF2B5EF4-FFF2-40B4-BE49-F238E27FC236}">
                <a16:creationId xmlns:a16="http://schemas.microsoft.com/office/drawing/2014/main" id="{15E2C7B7-55F5-30A5-EE7E-0CA620B2C434}"/>
              </a:ext>
            </a:extLst>
          </p:cNvPr>
          <p:cNvSpPr txBox="1"/>
          <p:nvPr/>
        </p:nvSpPr>
        <p:spPr>
          <a:xfrm>
            <a:off x="1016000" y="431800"/>
            <a:ext cx="7620000" cy="369332"/>
          </a:xfrm>
          <a:prstGeom prst="rect">
            <a:avLst/>
          </a:prstGeom>
          <a:noFill/>
        </p:spPr>
        <p:txBody>
          <a:bodyPr vert="horz" wrap="square" lIns="0" tIns="0" rIns="0" bIns="0" rtlCol="0">
            <a:noAutofit/>
          </a:bodyPr>
          <a:lstStyle/>
          <a:p>
            <a:pPr>
              <a:lnSpc>
                <a:spcPct val="110000"/>
              </a:lnSpc>
            </a:pPr>
            <a:r>
              <a:rPr lang="de-DE" sz="1050" b="1">
                <a:solidFill>
                  <a:srgbClr val="9FB0A7"/>
                </a:solidFill>
                <a:latin typeface="Segoe UI Semibold" panose="020B0702040204020203" pitchFamily="34" charset="0"/>
              </a:rPr>
              <a:t>WHAT'S NEXT</a:t>
            </a:r>
          </a:p>
        </p:txBody>
      </p:sp>
      <p:sp>
        <p:nvSpPr>
          <p:cNvPr id="4" name="Textfeld 3">
            <a:extLst>
              <a:ext uri="{FF2B5EF4-FFF2-40B4-BE49-F238E27FC236}">
                <a16:creationId xmlns:a16="http://schemas.microsoft.com/office/drawing/2014/main" id="{6DA5DA46-01BE-654B-3ED7-C61E6F85CF88}"/>
              </a:ext>
            </a:extLst>
          </p:cNvPr>
          <p:cNvSpPr txBox="1"/>
          <p:nvPr/>
        </p:nvSpPr>
        <p:spPr>
          <a:xfrm>
            <a:off x="609600" y="711200"/>
            <a:ext cx="10922000" cy="369332"/>
          </a:xfrm>
          <a:prstGeom prst="rect">
            <a:avLst/>
          </a:prstGeom>
          <a:noFill/>
        </p:spPr>
        <p:txBody>
          <a:bodyPr vert="horz" wrap="square" lIns="0" tIns="0" rIns="0" bIns="0" rtlCol="0">
            <a:noAutofit/>
          </a:bodyPr>
          <a:lstStyle/>
          <a:p>
            <a:pPr>
              <a:lnSpc>
                <a:spcPct val="110000"/>
              </a:lnSpc>
            </a:pPr>
            <a:r>
              <a:rPr lang="de-DE" sz="3000">
                <a:solidFill>
                  <a:srgbClr val="FFFFFF"/>
                </a:solidFill>
                <a:latin typeface="Segoe UI Semibold" panose="020B0702040204020203" pitchFamily="34" charset="0"/>
              </a:rPr>
              <a:t>Improving the journey further</a:t>
            </a:r>
          </a:p>
        </p:txBody>
      </p:sp>
      <p:sp>
        <p:nvSpPr>
          <p:cNvPr id="5" name="Ellipse 4">
            <a:extLst>
              <a:ext uri="{FF2B5EF4-FFF2-40B4-BE49-F238E27FC236}">
                <a16:creationId xmlns:a16="http://schemas.microsoft.com/office/drawing/2014/main" id="{D0A61474-5C1A-F46A-B603-740CA9C75D5E}"/>
              </a:ext>
            </a:extLst>
          </p:cNvPr>
          <p:cNvSpPr/>
          <p:nvPr/>
        </p:nvSpPr>
        <p:spPr>
          <a:xfrm>
            <a:off x="609600" y="1651000"/>
            <a:ext cx="508000" cy="5080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solidFill>
                  <a:srgbClr val="FFFFFF"/>
                </a:solidFill>
                <a:latin typeface="Segoe UI Semibold" panose="020B0702040204020203" pitchFamily="34" charset="0"/>
              </a:rPr>
              <a:t>1</a:t>
            </a:r>
          </a:p>
        </p:txBody>
      </p:sp>
      <p:sp>
        <p:nvSpPr>
          <p:cNvPr id="6" name="Textfeld 5">
            <a:extLst>
              <a:ext uri="{FF2B5EF4-FFF2-40B4-BE49-F238E27FC236}">
                <a16:creationId xmlns:a16="http://schemas.microsoft.com/office/drawing/2014/main" id="{0312D53B-21AF-BE95-6B01-7E74ADA76A6C}"/>
              </a:ext>
            </a:extLst>
          </p:cNvPr>
          <p:cNvSpPr txBox="1"/>
          <p:nvPr/>
        </p:nvSpPr>
        <p:spPr>
          <a:xfrm>
            <a:off x="1371600" y="1663700"/>
            <a:ext cx="9906000" cy="369332"/>
          </a:xfrm>
          <a:prstGeom prst="rect">
            <a:avLst/>
          </a:prstGeom>
          <a:noFill/>
        </p:spPr>
        <p:txBody>
          <a:bodyPr vert="horz" wrap="square" lIns="0" tIns="0" rIns="0" bIns="0" rtlCol="0">
            <a:noAutofit/>
          </a:bodyPr>
          <a:lstStyle/>
          <a:p>
            <a:pPr>
              <a:lnSpc>
                <a:spcPct val="110000"/>
              </a:lnSpc>
            </a:pPr>
            <a:r>
              <a:rPr lang="en-US" sz="1700">
                <a:solidFill>
                  <a:srgbClr val="FFFFFF"/>
                </a:solidFill>
                <a:latin typeface="Segoe UI Semibold" panose="020B0702040204020203" pitchFamily="34" charset="0"/>
              </a:rPr>
              <a:t>Alarm on the lock screen</a:t>
            </a:r>
            <a:endParaRPr lang="de-DE" sz="1700">
              <a:solidFill>
                <a:srgbClr val="FFFFFF"/>
              </a:solidFill>
              <a:latin typeface="Segoe UI Semibold" panose="020B0702040204020203" pitchFamily="34" charset="0"/>
            </a:endParaRPr>
          </a:p>
        </p:txBody>
      </p:sp>
      <p:sp>
        <p:nvSpPr>
          <p:cNvPr id="7" name="Textfeld 6">
            <a:extLst>
              <a:ext uri="{FF2B5EF4-FFF2-40B4-BE49-F238E27FC236}">
                <a16:creationId xmlns:a16="http://schemas.microsoft.com/office/drawing/2014/main" id="{5C16ABCE-390D-8D84-90DE-B93591C54D49}"/>
              </a:ext>
            </a:extLst>
          </p:cNvPr>
          <p:cNvSpPr txBox="1"/>
          <p:nvPr/>
        </p:nvSpPr>
        <p:spPr>
          <a:xfrm>
            <a:off x="1371600" y="2006600"/>
            <a:ext cx="9906000" cy="369332"/>
          </a:xfrm>
          <a:prstGeom prst="rect">
            <a:avLst/>
          </a:prstGeom>
          <a:noFill/>
        </p:spPr>
        <p:txBody>
          <a:bodyPr vert="horz" wrap="square" lIns="0" tIns="0" rIns="0" bIns="0" rtlCol="0">
            <a:noAutofit/>
          </a:bodyPr>
          <a:lstStyle/>
          <a:p>
            <a:pPr>
              <a:lnSpc>
                <a:spcPct val="110000"/>
              </a:lnSpc>
            </a:pPr>
            <a:r>
              <a:rPr lang="en-US" sz="1250">
                <a:solidFill>
                  <a:srgbClr val="C9D3CD"/>
                </a:solidFill>
                <a:latin typeface="Segoe UI" panose="020B0502040204020203" pitchFamily="34" charset="0"/>
              </a:rPr>
              <a:t>HTTPS + Web Push, so the alarm reaches the phone even when the browser is closed.</a:t>
            </a:r>
            <a:endParaRPr lang="de-DE" sz="1250">
              <a:solidFill>
                <a:srgbClr val="C9D3CD"/>
              </a:solidFill>
              <a:latin typeface="Segoe UI" panose="020B0502040204020203" pitchFamily="34" charset="0"/>
            </a:endParaRPr>
          </a:p>
        </p:txBody>
      </p:sp>
      <p:sp>
        <p:nvSpPr>
          <p:cNvPr id="8" name="Ellipse 7">
            <a:extLst>
              <a:ext uri="{FF2B5EF4-FFF2-40B4-BE49-F238E27FC236}">
                <a16:creationId xmlns:a16="http://schemas.microsoft.com/office/drawing/2014/main" id="{30DD0E25-9C86-70D4-12E1-7323A5BFBD4C}"/>
              </a:ext>
            </a:extLst>
          </p:cNvPr>
          <p:cNvSpPr/>
          <p:nvPr/>
        </p:nvSpPr>
        <p:spPr>
          <a:xfrm>
            <a:off x="609600" y="2717800"/>
            <a:ext cx="508000" cy="5080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solidFill>
                  <a:srgbClr val="FFFFFF"/>
                </a:solidFill>
                <a:latin typeface="Segoe UI Semibold" panose="020B0702040204020203" pitchFamily="34" charset="0"/>
              </a:rPr>
              <a:t>2</a:t>
            </a:r>
          </a:p>
        </p:txBody>
      </p:sp>
      <p:sp>
        <p:nvSpPr>
          <p:cNvPr id="9" name="Textfeld 8">
            <a:extLst>
              <a:ext uri="{FF2B5EF4-FFF2-40B4-BE49-F238E27FC236}">
                <a16:creationId xmlns:a16="http://schemas.microsoft.com/office/drawing/2014/main" id="{82D39A0B-0460-65C8-EB5B-361236E5EC0C}"/>
              </a:ext>
            </a:extLst>
          </p:cNvPr>
          <p:cNvSpPr txBox="1"/>
          <p:nvPr/>
        </p:nvSpPr>
        <p:spPr>
          <a:xfrm>
            <a:off x="1371600" y="2730500"/>
            <a:ext cx="9906000" cy="369332"/>
          </a:xfrm>
          <a:prstGeom prst="rect">
            <a:avLst/>
          </a:prstGeom>
          <a:noFill/>
        </p:spPr>
        <p:txBody>
          <a:bodyPr vert="horz" wrap="square" lIns="0" tIns="0" rIns="0" bIns="0" rtlCol="0">
            <a:noAutofit/>
          </a:bodyPr>
          <a:lstStyle/>
          <a:p>
            <a:pPr>
              <a:lnSpc>
                <a:spcPct val="110000"/>
              </a:lnSpc>
            </a:pPr>
            <a:r>
              <a:rPr lang="de-DE" sz="1700">
                <a:solidFill>
                  <a:srgbClr val="FFFFFF"/>
                </a:solidFill>
                <a:latin typeface="Segoe UI Semibold" panose="020B0702040204020203" pitchFamily="34" charset="0"/>
              </a:rPr>
              <a:t>More stations</a:t>
            </a:r>
          </a:p>
        </p:txBody>
      </p:sp>
      <p:sp>
        <p:nvSpPr>
          <p:cNvPr id="10" name="Textfeld 9">
            <a:extLst>
              <a:ext uri="{FF2B5EF4-FFF2-40B4-BE49-F238E27FC236}">
                <a16:creationId xmlns:a16="http://schemas.microsoft.com/office/drawing/2014/main" id="{544E4F7B-F709-FF42-BFBF-12A47182D3CD}"/>
              </a:ext>
            </a:extLst>
          </p:cNvPr>
          <p:cNvSpPr txBox="1"/>
          <p:nvPr/>
        </p:nvSpPr>
        <p:spPr>
          <a:xfrm>
            <a:off x="1371600" y="3073400"/>
            <a:ext cx="9906000" cy="369332"/>
          </a:xfrm>
          <a:prstGeom prst="rect">
            <a:avLst/>
          </a:prstGeom>
          <a:noFill/>
        </p:spPr>
        <p:txBody>
          <a:bodyPr vert="horz" wrap="square" lIns="0" tIns="0" rIns="0" bIns="0" rtlCol="0">
            <a:noAutofit/>
          </a:bodyPr>
          <a:lstStyle/>
          <a:p>
            <a:pPr>
              <a:lnSpc>
                <a:spcPct val="110000"/>
              </a:lnSpc>
            </a:pPr>
            <a:r>
              <a:rPr lang="en-US" sz="1250">
                <a:solidFill>
                  <a:srgbClr val="C9D3CD"/>
                </a:solidFill>
                <a:latin typeface="Segoe UI" panose="020B0502040204020203" pitchFamily="34" charset="0"/>
              </a:rPr>
              <a:t>Each new box just needs the same hardware and its number – the admin adds it in one click.</a:t>
            </a:r>
            <a:endParaRPr lang="de-DE" sz="1250">
              <a:solidFill>
                <a:srgbClr val="C9D3CD"/>
              </a:solidFill>
              <a:latin typeface="Segoe UI" panose="020B0502040204020203" pitchFamily="34" charset="0"/>
            </a:endParaRPr>
          </a:p>
        </p:txBody>
      </p:sp>
      <p:sp>
        <p:nvSpPr>
          <p:cNvPr id="11" name="Ellipse 10">
            <a:extLst>
              <a:ext uri="{FF2B5EF4-FFF2-40B4-BE49-F238E27FC236}">
                <a16:creationId xmlns:a16="http://schemas.microsoft.com/office/drawing/2014/main" id="{B49003CA-0F4B-00F6-234B-947D8CAB7170}"/>
              </a:ext>
            </a:extLst>
          </p:cNvPr>
          <p:cNvSpPr/>
          <p:nvPr/>
        </p:nvSpPr>
        <p:spPr>
          <a:xfrm>
            <a:off x="609600" y="3784600"/>
            <a:ext cx="508000" cy="5080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solidFill>
                  <a:srgbClr val="FFFFFF"/>
                </a:solidFill>
                <a:latin typeface="Segoe UI Semibold" panose="020B0702040204020203" pitchFamily="34" charset="0"/>
              </a:rPr>
              <a:t>3</a:t>
            </a:r>
          </a:p>
        </p:txBody>
      </p:sp>
      <p:sp>
        <p:nvSpPr>
          <p:cNvPr id="12" name="Textfeld 11">
            <a:extLst>
              <a:ext uri="{FF2B5EF4-FFF2-40B4-BE49-F238E27FC236}">
                <a16:creationId xmlns:a16="http://schemas.microsoft.com/office/drawing/2014/main" id="{5CD6F768-25F7-9050-02F6-58DBC10AA4FC}"/>
              </a:ext>
            </a:extLst>
          </p:cNvPr>
          <p:cNvSpPr txBox="1"/>
          <p:nvPr/>
        </p:nvSpPr>
        <p:spPr>
          <a:xfrm>
            <a:off x="1371600" y="3797300"/>
            <a:ext cx="9906000" cy="369332"/>
          </a:xfrm>
          <a:prstGeom prst="rect">
            <a:avLst/>
          </a:prstGeom>
          <a:noFill/>
        </p:spPr>
        <p:txBody>
          <a:bodyPr vert="horz" wrap="square" lIns="0" tIns="0" rIns="0" bIns="0" rtlCol="0">
            <a:noAutofit/>
          </a:bodyPr>
          <a:lstStyle/>
          <a:p>
            <a:pPr>
              <a:lnSpc>
                <a:spcPct val="110000"/>
              </a:lnSpc>
            </a:pPr>
            <a:r>
              <a:rPr lang="de-DE" sz="1700">
                <a:solidFill>
                  <a:srgbClr val="FFFFFF"/>
                </a:solidFill>
                <a:latin typeface="Segoe UI Semibold" panose="020B0702040204020203" pitchFamily="34" charset="0"/>
              </a:rPr>
              <a:t>Second sensor</a:t>
            </a:r>
          </a:p>
        </p:txBody>
      </p:sp>
      <p:sp>
        <p:nvSpPr>
          <p:cNvPr id="13" name="Textfeld 12">
            <a:extLst>
              <a:ext uri="{FF2B5EF4-FFF2-40B4-BE49-F238E27FC236}">
                <a16:creationId xmlns:a16="http://schemas.microsoft.com/office/drawing/2014/main" id="{DAD3D9BD-CC26-590B-2E97-FA13596E49B4}"/>
              </a:ext>
            </a:extLst>
          </p:cNvPr>
          <p:cNvSpPr txBox="1"/>
          <p:nvPr/>
        </p:nvSpPr>
        <p:spPr>
          <a:xfrm>
            <a:off x="1371600" y="4140200"/>
            <a:ext cx="9906000" cy="369332"/>
          </a:xfrm>
          <a:prstGeom prst="rect">
            <a:avLst/>
          </a:prstGeom>
          <a:noFill/>
        </p:spPr>
        <p:txBody>
          <a:bodyPr vert="horz" wrap="square" lIns="0" tIns="0" rIns="0" bIns="0" rtlCol="0">
            <a:noAutofit/>
          </a:bodyPr>
          <a:lstStyle/>
          <a:p>
            <a:pPr>
              <a:lnSpc>
                <a:spcPct val="110000"/>
              </a:lnSpc>
            </a:pPr>
            <a:r>
              <a:rPr lang="en-US" sz="1250">
                <a:solidFill>
                  <a:srgbClr val="C9D3CD"/>
                </a:solidFill>
                <a:latin typeface="Segoe UI" panose="020B0502040204020203" pitchFamily="34" charset="0"/>
              </a:rPr>
              <a:t>Weight sensor via ADS1115 as a second opinion next to ultrasonic.</a:t>
            </a:r>
            <a:endParaRPr lang="de-DE" sz="1250">
              <a:solidFill>
                <a:srgbClr val="C9D3CD"/>
              </a:solidFill>
              <a:latin typeface="Segoe UI" panose="020B0502040204020203" pitchFamily="34" charset="0"/>
            </a:endParaRPr>
          </a:p>
        </p:txBody>
      </p:sp>
      <p:sp>
        <p:nvSpPr>
          <p:cNvPr id="14" name="Ellipse 13">
            <a:extLst>
              <a:ext uri="{FF2B5EF4-FFF2-40B4-BE49-F238E27FC236}">
                <a16:creationId xmlns:a16="http://schemas.microsoft.com/office/drawing/2014/main" id="{D7E7E779-8333-6002-3E31-1FA6A203B977}"/>
              </a:ext>
            </a:extLst>
          </p:cNvPr>
          <p:cNvSpPr/>
          <p:nvPr/>
        </p:nvSpPr>
        <p:spPr>
          <a:xfrm>
            <a:off x="609600" y="4851400"/>
            <a:ext cx="508000" cy="508000"/>
          </a:xfrm>
          <a:prstGeom prst="ellipse">
            <a:avLst/>
          </a:prstGeom>
          <a:solidFill>
            <a:srgbClr val="1D765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a:solidFill>
                  <a:srgbClr val="FFFFFF"/>
                </a:solidFill>
                <a:latin typeface="Segoe UI Semibold" panose="020B0702040204020203" pitchFamily="34" charset="0"/>
              </a:rPr>
              <a:t>4</a:t>
            </a:r>
          </a:p>
        </p:txBody>
      </p:sp>
      <p:sp>
        <p:nvSpPr>
          <p:cNvPr id="15" name="Textfeld 14">
            <a:extLst>
              <a:ext uri="{FF2B5EF4-FFF2-40B4-BE49-F238E27FC236}">
                <a16:creationId xmlns:a16="http://schemas.microsoft.com/office/drawing/2014/main" id="{6EB86272-13D8-E068-4362-3ACE50BE2207}"/>
              </a:ext>
            </a:extLst>
          </p:cNvPr>
          <p:cNvSpPr txBox="1"/>
          <p:nvPr/>
        </p:nvSpPr>
        <p:spPr>
          <a:xfrm>
            <a:off x="1371600" y="4864100"/>
            <a:ext cx="9906000" cy="369332"/>
          </a:xfrm>
          <a:prstGeom prst="rect">
            <a:avLst/>
          </a:prstGeom>
          <a:noFill/>
        </p:spPr>
        <p:txBody>
          <a:bodyPr vert="horz" wrap="square" lIns="0" tIns="0" rIns="0" bIns="0" rtlCol="0">
            <a:noAutofit/>
          </a:bodyPr>
          <a:lstStyle/>
          <a:p>
            <a:pPr>
              <a:lnSpc>
                <a:spcPct val="110000"/>
              </a:lnSpc>
            </a:pPr>
            <a:r>
              <a:rPr lang="de-DE" sz="1700">
                <a:solidFill>
                  <a:srgbClr val="FFFFFF"/>
                </a:solidFill>
                <a:latin typeface="Segoe UI Semibold" panose="020B0702040204020203" pitchFamily="34" charset="0"/>
              </a:rPr>
              <a:t>Own server</a:t>
            </a:r>
          </a:p>
        </p:txBody>
      </p:sp>
      <p:sp>
        <p:nvSpPr>
          <p:cNvPr id="16" name="Textfeld 15">
            <a:extLst>
              <a:ext uri="{FF2B5EF4-FFF2-40B4-BE49-F238E27FC236}">
                <a16:creationId xmlns:a16="http://schemas.microsoft.com/office/drawing/2014/main" id="{48024BAC-121D-9518-F27E-B23C7384C395}"/>
              </a:ext>
            </a:extLst>
          </p:cNvPr>
          <p:cNvSpPr txBox="1"/>
          <p:nvPr/>
        </p:nvSpPr>
        <p:spPr>
          <a:xfrm>
            <a:off x="1371600" y="5207000"/>
            <a:ext cx="9906000" cy="369332"/>
          </a:xfrm>
          <a:prstGeom prst="rect">
            <a:avLst/>
          </a:prstGeom>
          <a:noFill/>
        </p:spPr>
        <p:txBody>
          <a:bodyPr vert="horz" wrap="square" lIns="0" tIns="0" rIns="0" bIns="0" rtlCol="0">
            <a:noAutofit/>
          </a:bodyPr>
          <a:lstStyle/>
          <a:p>
            <a:pPr>
              <a:lnSpc>
                <a:spcPct val="110000"/>
              </a:lnSpc>
            </a:pPr>
            <a:r>
              <a:rPr lang="en-US" sz="1250">
                <a:solidFill>
                  <a:srgbClr val="C9D3CD"/>
                </a:solidFill>
                <a:latin typeface="Segoe UI" panose="020B0502040204020203" pitchFamily="34" charset="0"/>
              </a:rPr>
              <a:t>Move from the Windows PC to Linux (Pi 5 / Proxmox) for 24/7 operation.</a:t>
            </a:r>
            <a:endParaRPr lang="de-DE" sz="1250">
              <a:solidFill>
                <a:srgbClr val="C9D3CD"/>
              </a:solidFill>
              <a:latin typeface="Segoe UI" panose="020B0502040204020203" pitchFamily="34" charset="0"/>
            </a:endParaRPr>
          </a:p>
        </p:txBody>
      </p:sp>
      <p:sp>
        <p:nvSpPr>
          <p:cNvPr id="17" name="Textfeld 16">
            <a:extLst>
              <a:ext uri="{FF2B5EF4-FFF2-40B4-BE49-F238E27FC236}">
                <a16:creationId xmlns:a16="http://schemas.microsoft.com/office/drawing/2014/main" id="{692F3281-795D-A06E-84B0-0A58B2C909F9}"/>
              </a:ext>
            </a:extLst>
          </p:cNvPr>
          <p:cNvSpPr txBox="1"/>
          <p:nvPr/>
        </p:nvSpPr>
        <p:spPr>
          <a:xfrm>
            <a:off x="609600" y="6223000"/>
            <a:ext cx="10922000" cy="369332"/>
          </a:xfrm>
          <a:prstGeom prst="rect">
            <a:avLst/>
          </a:prstGeom>
          <a:noFill/>
        </p:spPr>
        <p:txBody>
          <a:bodyPr vert="horz" wrap="square" lIns="0" tIns="0" rIns="0" bIns="0" rtlCol="0">
            <a:noAutofit/>
          </a:bodyPr>
          <a:lstStyle/>
          <a:p>
            <a:pPr>
              <a:lnSpc>
                <a:spcPct val="110000"/>
              </a:lnSpc>
            </a:pPr>
            <a:r>
              <a:rPr lang="de-DE" sz="1100">
                <a:solidFill>
                  <a:srgbClr val="9FB0A7"/>
                </a:solidFill>
                <a:latin typeface="Segoe UI" panose="020B0502040204020203" pitchFamily="34" charset="0"/>
              </a:rPr>
              <a:t>Smart Bikestation · Hackathon 2026 · Try it live at Stellplatz 1, Hackathon Halle</a:t>
            </a:r>
          </a:p>
        </p:txBody>
      </p:sp>
    </p:spTree>
    <p:extLst>
      <p:ext uri="{BB962C8B-B14F-4D97-AF65-F5344CB8AC3E}">
        <p14:creationId xmlns:p14="http://schemas.microsoft.com/office/powerpoint/2010/main" val="299640670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1463</Words>
  <Application>Microsoft Office PowerPoint</Application>
  <PresentationFormat>Benutzerdefiniert</PresentationFormat>
  <Paragraphs>202</Paragraphs>
  <Slides>11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11</vt:i4>
      </vt:variant>
    </vt:vector>
  </HeadingPairs>
  <TitlesOfParts>
    <vt:vector size="17" baseType="lpstr">
      <vt:lpstr>Aptos</vt:lpstr>
      <vt:lpstr>Aptos Display</vt:lpstr>
      <vt:lpstr>Arial</vt:lpstr>
      <vt:lpstr>Segoe UI</vt:lpstr>
      <vt:lpstr>Segoe UI Semibold</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Smart Bikestation Team</dc:creator>
  <cp:lastModifiedBy>Smart Bikestation Team</cp:lastModifiedBy>
  <cp:revision>1</cp:revision>
  <dcterms:created xsi:type="dcterms:W3CDTF">2026-09-29T11:14:00Z</dcterms:created>
  <dcterms:modified xsi:type="dcterms:W3CDTF">2026-09-29T11:14:00Z</dcterms:modified>
</cp:coreProperties>
</file>